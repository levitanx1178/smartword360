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pitchFamily="34" charset="0"/>
      <p:regular r:id="rId13"/>
    </p:embeddedFont>
    <p:embeddedFont>
      <p:font typeface="Arimo Bold" panose="020B0704020202020204" pitchFamily="34" charset="0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ibri (MS)" panose="020F0502020204030204" pitchFamily="34" charset="0"/>
      <p:regular r:id="rId20"/>
    </p:embeddedFont>
    <p:embeddedFont>
      <p:font typeface="Calibri (MS) Bold" panose="020F0702030404030204" pitchFamily="34" charset="0"/>
      <p:regular r:id="rId21"/>
      <p:bold r:id="rId22"/>
    </p:embeddedFont>
    <p:embeddedFont>
      <p:font typeface="Canva Sans" panose="020B0503030501040103" pitchFamily="34" charset="0"/>
      <p:regular r:id="rId23"/>
    </p:embeddedFont>
    <p:embeddedFont>
      <p:font typeface="Canva Sans Bold" panose="020B0803030501040103" pitchFamily="34" charset="0"/>
      <p:regular r:id="rId24"/>
      <p:bold r:id="rId25"/>
    </p:embeddedFont>
    <p:embeddedFont>
      <p:font typeface="Corben" panose="020F0503020000020004" pitchFamily="34" charset="0"/>
      <p:regular r:id="rId26"/>
    </p:embeddedFont>
    <p:embeddedFont>
      <p:font typeface="Georgia Bold" panose="02040502050405020303" pitchFamily="18" charset="0"/>
      <p:regular r:id="rId27"/>
      <p:bold r:id="rId28"/>
      <p:italic r:id="rId29"/>
      <p:boldItalic r:id="rId30"/>
    </p:embeddedFont>
    <p:embeddedFont>
      <p:font typeface="Inter" panose="02000503000000020004" pitchFamily="2" charset="0"/>
      <p:regular r:id="rId31"/>
    </p:embeddedFont>
    <p:embeddedFont>
      <p:font typeface="Inter Bold" panose="02000503000000020004" pitchFamily="2" charset="0"/>
      <p:regular r:id="rId32"/>
      <p:bold r:id="rId33"/>
    </p:embeddedFont>
    <p:embeddedFont>
      <p:font typeface="Poppins Bold" pitchFamily="2" charset="77"/>
      <p:regular r:id="rId34"/>
      <p:bold r:id="rId35"/>
    </p:embeddedFont>
    <p:embeddedFont>
      <p:font typeface="Trebuchet MS" panose="020B0703020202090204" pitchFamily="34" charset="0"/>
      <p:regular r:id="rId36"/>
      <p:bold r:id="rId37"/>
      <p:italic r:id="rId38"/>
    </p:embeddedFont>
    <p:embeddedFont>
      <p:font typeface="Trebuchet MS Bold" panose="020B0703020202090204" pitchFamily="34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 autoAdjust="0"/>
    <p:restoredTop sz="94662" autoAdjust="0"/>
  </p:normalViewPr>
  <p:slideViewPr>
    <p:cSldViewPr>
      <p:cViewPr>
        <p:scale>
          <a:sx n="55" d="100"/>
          <a:sy n="55" d="100"/>
        </p:scale>
        <p:origin x="3712" y="17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font" Target="fonts/font27.fntdata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42" Type="http://schemas.openxmlformats.org/officeDocument/2006/relationships/font" Target="fonts/font3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font" Target="fonts/font25.fntdata"/><Relationship Id="rId40" Type="http://schemas.openxmlformats.org/officeDocument/2006/relationships/font" Target="fonts/font2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font" Target="fonts/font26.fntdata"/><Relationship Id="rId46" Type="http://schemas.openxmlformats.org/officeDocument/2006/relationships/tableStyles" Target="tableStyles.xml"/><Relationship Id="rId20" Type="http://schemas.openxmlformats.org/officeDocument/2006/relationships/font" Target="fonts/font8.fntdata"/><Relationship Id="rId41" Type="http://schemas.openxmlformats.org/officeDocument/2006/relationships/font" Target="fonts/font2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703" y="1816103"/>
            <a:ext cx="6426203" cy="80267"/>
            <a:chOff x="0" y="0"/>
            <a:chExt cx="8568271" cy="107023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8534400" cy="73152"/>
            </a:xfrm>
            <a:custGeom>
              <a:avLst/>
              <a:gdLst/>
              <a:ahLst/>
              <a:cxnLst/>
              <a:rect l="l" t="t" r="r" b="b"/>
              <a:pathLst>
                <a:path w="8534400" h="73152">
                  <a:moveTo>
                    <a:pt x="0" y="0"/>
                  </a:moveTo>
                  <a:lnTo>
                    <a:pt x="8534400" y="0"/>
                  </a:lnTo>
                  <a:lnTo>
                    <a:pt x="853440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C6B8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8568182" cy="106936"/>
            </a:xfrm>
            <a:custGeom>
              <a:avLst/>
              <a:gdLst/>
              <a:ahLst/>
              <a:cxnLst/>
              <a:rect l="l" t="t" r="r" b="b"/>
              <a:pathLst>
                <a:path w="8568182" h="106936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90043"/>
                  </a:lnTo>
                  <a:cubicBezTo>
                    <a:pt x="8568182" y="99441"/>
                    <a:pt x="8560562" y="106934"/>
                    <a:pt x="855129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8551291" y="73152"/>
                  </a:lnTo>
                  <a:lnTo>
                    <a:pt x="8551291" y="90043"/>
                  </a:lnTo>
                  <a:lnTo>
                    <a:pt x="8534400" y="90043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B8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828800" y="755399"/>
            <a:ext cx="7315200" cy="1060704"/>
            <a:chOff x="0" y="0"/>
            <a:chExt cx="9753600" cy="14142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753600" cy="1414272"/>
            </a:xfrm>
            <a:custGeom>
              <a:avLst/>
              <a:gdLst/>
              <a:ahLst/>
              <a:cxnLst/>
              <a:rect l="l" t="t" r="r" b="b"/>
              <a:pathLst>
                <a:path w="9753600" h="1414272">
                  <a:moveTo>
                    <a:pt x="0" y="0"/>
                  </a:moveTo>
                  <a:lnTo>
                    <a:pt x="9753600" y="0"/>
                  </a:lnTo>
                  <a:lnTo>
                    <a:pt x="97536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379" b="-84379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9753600" cy="1414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C6B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SmartWard360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28044" y="2254429"/>
            <a:ext cx="11263572" cy="5029200"/>
            <a:chOff x="0" y="0"/>
            <a:chExt cx="15018096" cy="6705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18096" cy="6705600"/>
            </a:xfrm>
            <a:custGeom>
              <a:avLst/>
              <a:gdLst/>
              <a:ahLst/>
              <a:cxnLst/>
              <a:rect l="l" t="t" r="r" b="b"/>
              <a:pathLst>
                <a:path w="15018096" h="6705600">
                  <a:moveTo>
                    <a:pt x="0" y="0"/>
                  </a:moveTo>
                  <a:lnTo>
                    <a:pt x="15018096" y="0"/>
                  </a:lnTo>
                  <a:lnTo>
                    <a:pt x="15018096" y="6705600"/>
                  </a:lnTo>
                  <a:lnTo>
                    <a:pt x="0" y="670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31" r="-234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15018096" cy="680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560"/>
                </a:lnSpc>
              </a:pPr>
              <a:r>
                <a:rPr lang="en-US" sz="8000" b="1" dirty="0">
                  <a:solidFill>
                    <a:srgbClr val="1B1B27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AI-Powered Hospital Command Center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50554" y="7205472"/>
            <a:ext cx="9198866" cy="914400"/>
            <a:chOff x="0" y="0"/>
            <a:chExt cx="12265155" cy="121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265154" cy="1219200"/>
            </a:xfrm>
            <a:custGeom>
              <a:avLst/>
              <a:gdLst/>
              <a:ahLst/>
              <a:cxnLst/>
              <a:rect l="l" t="t" r="r" b="b"/>
              <a:pathLst>
                <a:path w="12265154" h="1219200">
                  <a:moveTo>
                    <a:pt x="0" y="0"/>
                  </a:moveTo>
                  <a:lnTo>
                    <a:pt x="12265154" y="0"/>
                  </a:lnTo>
                  <a:lnTo>
                    <a:pt x="1226515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r="-59045" b="-26176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2265155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spc="200">
                  <a:solidFill>
                    <a:srgbClr val="02809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Next Generation Clinical Decision Support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691616" y="1755648"/>
            <a:ext cx="6060448" cy="7523483"/>
            <a:chOff x="0" y="0"/>
            <a:chExt cx="8080597" cy="1003131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8046726" cy="9997440"/>
            </a:xfrm>
            <a:custGeom>
              <a:avLst/>
              <a:gdLst/>
              <a:ahLst/>
              <a:cxnLst/>
              <a:rect l="l" t="t" r="r" b="b"/>
              <a:pathLst>
                <a:path w="8046726" h="9997440">
                  <a:moveTo>
                    <a:pt x="0" y="0"/>
                  </a:moveTo>
                  <a:lnTo>
                    <a:pt x="8046726" y="0"/>
                  </a:lnTo>
                  <a:lnTo>
                    <a:pt x="8046726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8080508" cy="10031222"/>
            </a:xfrm>
            <a:custGeom>
              <a:avLst/>
              <a:gdLst/>
              <a:ahLst/>
              <a:cxnLst/>
              <a:rect l="l" t="t" r="r" b="b"/>
              <a:pathLst>
                <a:path w="8080508" h="10031222">
                  <a:moveTo>
                    <a:pt x="16891" y="0"/>
                  </a:moveTo>
                  <a:lnTo>
                    <a:pt x="8063617" y="0"/>
                  </a:lnTo>
                  <a:cubicBezTo>
                    <a:pt x="8073015" y="0"/>
                    <a:pt x="8080508" y="7620"/>
                    <a:pt x="8080508" y="16891"/>
                  </a:cubicBezTo>
                  <a:lnTo>
                    <a:pt x="8080508" y="10014331"/>
                  </a:lnTo>
                  <a:cubicBezTo>
                    <a:pt x="8080508" y="10023729"/>
                    <a:pt x="8072888" y="10031222"/>
                    <a:pt x="8063617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8063617" y="9997440"/>
                  </a:lnTo>
                  <a:lnTo>
                    <a:pt x="8063617" y="10014331"/>
                  </a:lnTo>
                  <a:lnTo>
                    <a:pt x="8046726" y="10014331"/>
                  </a:lnTo>
                  <a:lnTo>
                    <a:pt x="8046726" y="16891"/>
                  </a:lnTo>
                  <a:lnTo>
                    <a:pt x="8063617" y="16891"/>
                  </a:lnTo>
                  <a:lnTo>
                    <a:pt x="806361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B8">
                <a:alpha val="15686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1691623" y="1907543"/>
            <a:ext cx="6060443" cy="116843"/>
            <a:chOff x="0" y="0"/>
            <a:chExt cx="8080591" cy="15579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8046720" cy="121920"/>
            </a:xfrm>
            <a:custGeom>
              <a:avLst/>
              <a:gdLst/>
              <a:ahLst/>
              <a:cxnLst/>
              <a:rect l="l" t="t" r="r" b="b"/>
              <a:pathLst>
                <a:path w="8046720" h="121920">
                  <a:moveTo>
                    <a:pt x="0" y="0"/>
                  </a:moveTo>
                  <a:lnTo>
                    <a:pt x="8046720" y="0"/>
                  </a:lnTo>
                  <a:lnTo>
                    <a:pt x="80467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C6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8080501" cy="155704"/>
            </a:xfrm>
            <a:custGeom>
              <a:avLst/>
              <a:gdLst/>
              <a:ahLst/>
              <a:cxnLst/>
              <a:rect l="l" t="t" r="r" b="b"/>
              <a:pathLst>
                <a:path w="8080501" h="155704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138811"/>
                  </a:lnTo>
                  <a:cubicBezTo>
                    <a:pt x="8080501" y="148209"/>
                    <a:pt x="8072882" y="155702"/>
                    <a:pt x="806361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8063611" y="121920"/>
                  </a:lnTo>
                  <a:lnTo>
                    <a:pt x="8063611" y="138811"/>
                  </a:lnTo>
                  <a:lnTo>
                    <a:pt x="8046720" y="138811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B8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887200" y="3840480"/>
            <a:ext cx="5669280" cy="914400"/>
            <a:chOff x="0" y="0"/>
            <a:chExt cx="7559040" cy="1219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559040" cy="1219200"/>
            </a:xfrm>
            <a:custGeom>
              <a:avLst/>
              <a:gdLst/>
              <a:ahLst/>
              <a:cxnLst/>
              <a:rect l="l" t="t" r="r" b="b"/>
              <a:pathLst>
                <a:path w="7559040" h="1219200">
                  <a:moveTo>
                    <a:pt x="0" y="0"/>
                  </a:moveTo>
                  <a:lnTo>
                    <a:pt x="7559040" y="0"/>
                  </a:lnTo>
                  <a:lnTo>
                    <a:pt x="7559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807" b="-7080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755904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C6B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Team  Binary Blood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788903" y="4833623"/>
            <a:ext cx="4048763" cy="61979"/>
            <a:chOff x="0" y="0"/>
            <a:chExt cx="5398351" cy="82639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5364480" cy="48768"/>
            </a:xfrm>
            <a:custGeom>
              <a:avLst/>
              <a:gdLst/>
              <a:ahLst/>
              <a:cxnLst/>
              <a:rect l="l" t="t" r="r" b="b"/>
              <a:pathLst>
                <a:path w="5364480" h="48768">
                  <a:moveTo>
                    <a:pt x="0" y="0"/>
                  </a:moveTo>
                  <a:lnTo>
                    <a:pt x="5364480" y="0"/>
                  </a:lnTo>
                  <a:lnTo>
                    <a:pt x="536448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00C6B8">
                <a:alpha val="20000"/>
              </a:srgbClr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5398262" cy="82552"/>
            </a:xfrm>
            <a:custGeom>
              <a:avLst/>
              <a:gdLst/>
              <a:ahLst/>
              <a:cxnLst/>
              <a:rect l="l" t="t" r="r" b="b"/>
              <a:pathLst>
                <a:path w="5398262" h="8255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65659"/>
                  </a:lnTo>
                  <a:cubicBezTo>
                    <a:pt x="5398262" y="75057"/>
                    <a:pt x="5390642" y="82550"/>
                    <a:pt x="538137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5381371" y="48768"/>
                  </a:lnTo>
                  <a:lnTo>
                    <a:pt x="5381371" y="65659"/>
                  </a:lnTo>
                  <a:lnTo>
                    <a:pt x="5364480" y="6565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6B8">
                <a:alpha val="20000"/>
              </a:srgbClr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655296" y="5120640"/>
            <a:ext cx="4846320" cy="694944"/>
            <a:chOff x="0" y="0"/>
            <a:chExt cx="6461760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461760" cy="926592"/>
            </a:xfrm>
            <a:custGeom>
              <a:avLst/>
              <a:gdLst/>
              <a:ahLst/>
              <a:cxnLst/>
              <a:rect l="l" t="t" r="r" b="b"/>
              <a:pathLst>
                <a:path w="6461760" h="926592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882" b="-8588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46176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39748" lvl="1" indent="-269874" algn="l">
                <a:lnSpc>
                  <a:spcPts val="2999"/>
                </a:lnSpc>
                <a:buFont typeface="Arial"/>
                <a:buChar char="•"/>
              </a:pPr>
              <a:r>
                <a:rPr lang="en-US" sz="2499" b="1">
                  <a:solidFill>
                    <a:srgbClr val="1B1B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Tanvir Shahadat Shuva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655296" y="5888736"/>
            <a:ext cx="4846320" cy="694944"/>
            <a:chOff x="0" y="0"/>
            <a:chExt cx="6461760" cy="9265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461760" cy="926592"/>
            </a:xfrm>
            <a:custGeom>
              <a:avLst/>
              <a:gdLst/>
              <a:ahLst/>
              <a:cxnLst/>
              <a:rect l="l" t="t" r="r" b="b"/>
              <a:pathLst>
                <a:path w="6461760" h="926592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882" b="-8588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646176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39748" lvl="1" indent="-269874" algn="l">
                <a:lnSpc>
                  <a:spcPts val="2999"/>
                </a:lnSpc>
                <a:buFont typeface="Arial"/>
                <a:buChar char="•"/>
              </a:pPr>
              <a:r>
                <a:rPr lang="en-US" sz="2499" b="1">
                  <a:solidFill>
                    <a:srgbClr val="1B1B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Jobayer Ahmed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655296" y="6656832"/>
            <a:ext cx="4846320" cy="694944"/>
            <a:chOff x="0" y="0"/>
            <a:chExt cx="6461760" cy="9265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461760" cy="926592"/>
            </a:xfrm>
            <a:custGeom>
              <a:avLst/>
              <a:gdLst/>
              <a:ahLst/>
              <a:cxnLst/>
              <a:rect l="l" t="t" r="r" b="b"/>
              <a:pathLst>
                <a:path w="6461760" h="926592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882" b="-8588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646176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39748" lvl="1" indent="-269874" algn="l">
                <a:lnSpc>
                  <a:spcPts val="2999"/>
                </a:lnSpc>
                <a:buFont typeface="Arial"/>
                <a:buChar char="•"/>
              </a:pPr>
              <a:r>
                <a:rPr lang="en-US" sz="2499" b="1">
                  <a:solidFill>
                    <a:srgbClr val="1B1B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MD Affan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655296" y="7424928"/>
            <a:ext cx="4846320" cy="694944"/>
            <a:chOff x="0" y="0"/>
            <a:chExt cx="646176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461760" cy="926592"/>
            </a:xfrm>
            <a:custGeom>
              <a:avLst/>
              <a:gdLst/>
              <a:ahLst/>
              <a:cxnLst/>
              <a:rect l="l" t="t" r="r" b="b"/>
              <a:pathLst>
                <a:path w="6461760" h="926592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882" b="-8588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646176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39748" lvl="1" indent="-269874" algn="l">
                <a:lnSpc>
                  <a:spcPts val="2999"/>
                </a:lnSpc>
                <a:buFont typeface="Arial"/>
                <a:buChar char="•"/>
              </a:pPr>
              <a:r>
                <a:rPr lang="en-US" sz="2499" b="1">
                  <a:solidFill>
                    <a:srgbClr val="1B1B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Nayeem Uddin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655296" y="8193024"/>
            <a:ext cx="4846320" cy="694944"/>
            <a:chOff x="0" y="0"/>
            <a:chExt cx="6461760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461760" cy="926592"/>
            </a:xfrm>
            <a:custGeom>
              <a:avLst/>
              <a:gdLst/>
              <a:ahLst/>
              <a:cxnLst/>
              <a:rect l="l" t="t" r="r" b="b"/>
              <a:pathLst>
                <a:path w="6461760" h="926592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882" b="-8588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646176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39748" lvl="1" indent="-269874" algn="l">
                <a:lnSpc>
                  <a:spcPts val="2999"/>
                </a:lnSpc>
                <a:buFont typeface="Arial"/>
                <a:buChar char="•"/>
              </a:pPr>
              <a:r>
                <a:rPr lang="en-US" sz="2499" b="1">
                  <a:solidFill>
                    <a:srgbClr val="1B1B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Abbas Uddin Chowdhury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14032023" y="2277956"/>
            <a:ext cx="1562524" cy="1562524"/>
          </a:xfrm>
          <a:custGeom>
            <a:avLst/>
            <a:gdLst/>
            <a:ahLst/>
            <a:cxnLst/>
            <a:rect l="l" t="t" r="r" b="b"/>
            <a:pathLst>
              <a:path w="1562524" h="1562524">
                <a:moveTo>
                  <a:pt x="0" y="0"/>
                </a:moveTo>
                <a:lnTo>
                  <a:pt x="1562524" y="0"/>
                </a:lnTo>
                <a:lnTo>
                  <a:pt x="1562524" y="1562524"/>
                </a:lnTo>
                <a:lnTo>
                  <a:pt x="0" y="15625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-75741" y="-88080"/>
            <a:ext cx="3626167" cy="4114800"/>
          </a:xfrm>
          <a:custGeom>
            <a:avLst/>
            <a:gdLst/>
            <a:ahLst/>
            <a:cxnLst/>
            <a:rect l="l" t="t" r="r" b="b"/>
            <a:pathLst>
              <a:path w="3626167" h="4114800">
                <a:moveTo>
                  <a:pt x="0" y="0"/>
                </a:moveTo>
                <a:lnTo>
                  <a:pt x="3626167" y="0"/>
                </a:lnTo>
                <a:lnTo>
                  <a:pt x="36261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 dirty="0"/>
          </a:p>
        </p:txBody>
      </p:sp>
      <p:sp>
        <p:nvSpPr>
          <p:cNvPr id="43" name="TextBox 4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0" y="10074585"/>
            <a:ext cx="18288000" cy="200026"/>
            <a:chOff x="0" y="0"/>
            <a:chExt cx="4930219" cy="594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930219" cy="59432"/>
            </a:xfrm>
            <a:custGeom>
              <a:avLst/>
              <a:gdLst/>
              <a:ahLst/>
              <a:cxnLst/>
              <a:rect l="l" t="t" r="r" b="b"/>
              <a:pathLst>
                <a:path w="4930219" h="59432">
                  <a:moveTo>
                    <a:pt x="0" y="0"/>
                  </a:moveTo>
                  <a:lnTo>
                    <a:pt x="4930219" y="0"/>
                  </a:lnTo>
                  <a:lnTo>
                    <a:pt x="4930219" y="59432"/>
                  </a:lnTo>
                  <a:lnTo>
                    <a:pt x="0" y="59432"/>
                  </a:lnTo>
                  <a:close/>
                </a:path>
              </a:pathLst>
            </a:custGeom>
            <a:solidFill>
              <a:srgbClr val="1B1B27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4930219" cy="107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  <p:sp>
        <p:nvSpPr>
          <p:cNvPr id="50" name="Freeform 50"/>
          <p:cNvSpPr/>
          <p:nvPr/>
        </p:nvSpPr>
        <p:spPr>
          <a:xfrm rot="5400000">
            <a:off x="15172996" y="-201163"/>
            <a:ext cx="3626168" cy="4114800"/>
          </a:xfrm>
          <a:custGeom>
            <a:avLst/>
            <a:gdLst/>
            <a:ahLst/>
            <a:cxnLst/>
            <a:rect l="l" t="t" r="r" b="b"/>
            <a:pathLst>
              <a:path w="3626168" h="4114800">
                <a:moveTo>
                  <a:pt x="0" y="0"/>
                </a:moveTo>
                <a:lnTo>
                  <a:pt x="3626167" y="0"/>
                </a:lnTo>
                <a:lnTo>
                  <a:pt x="36261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14400" y="91440"/>
            <a:ext cx="5486400" cy="731520"/>
            <a:chOff x="0" y="0"/>
            <a:chExt cx="7315200" cy="9753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15200" cy="975360"/>
            </a:xfrm>
            <a:custGeom>
              <a:avLst/>
              <a:gdLst/>
              <a:ahLst/>
              <a:cxnLst/>
              <a:rect l="l" t="t" r="r" b="b"/>
              <a:pathLst>
                <a:path w="7315200" h="97536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731520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600">
                  <a:solidFill>
                    <a:srgbClr val="00A89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PROBLEM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768096"/>
            <a:ext cx="16459200" cy="1097280"/>
            <a:chOff x="0" y="0"/>
            <a:chExt cx="2194560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Hospitals Are Overwhelmed, Fragmented, and Reactive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5943" y="2364743"/>
            <a:ext cx="5511803" cy="3225803"/>
            <a:chOff x="0" y="0"/>
            <a:chExt cx="7349071" cy="430107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315200" cy="4267200"/>
            </a:xfrm>
            <a:custGeom>
              <a:avLst/>
              <a:gdLst/>
              <a:ahLst/>
              <a:cxnLst/>
              <a:rect l="l" t="t" r="r" b="b"/>
              <a:pathLst>
                <a:path w="7315200" h="4267200">
                  <a:moveTo>
                    <a:pt x="0" y="0"/>
                  </a:moveTo>
                  <a:lnTo>
                    <a:pt x="7315200" y="0"/>
                  </a:lnTo>
                  <a:lnTo>
                    <a:pt x="73152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348982" cy="4300982"/>
            </a:xfrm>
            <a:custGeom>
              <a:avLst/>
              <a:gdLst/>
              <a:ahLst/>
              <a:cxnLst/>
              <a:rect l="l" t="t" r="r" b="b"/>
              <a:pathLst>
                <a:path w="7348982" h="4300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284091"/>
                  </a:lnTo>
                  <a:cubicBezTo>
                    <a:pt x="7348982" y="4293489"/>
                    <a:pt x="7341362" y="4300982"/>
                    <a:pt x="73320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332091" y="4267200"/>
                  </a:lnTo>
                  <a:lnTo>
                    <a:pt x="7332091" y="4284091"/>
                  </a:lnTo>
                  <a:lnTo>
                    <a:pt x="7315200" y="4284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35943" y="2364743"/>
            <a:ext cx="5511803" cy="135131"/>
            <a:chOff x="0" y="0"/>
            <a:chExt cx="7349071" cy="180175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348982" cy="180088"/>
            </a:xfrm>
            <a:custGeom>
              <a:avLst/>
              <a:gdLst/>
              <a:ahLst/>
              <a:cxnLst/>
              <a:rect l="l" t="t" r="r" b="b"/>
              <a:pathLst>
                <a:path w="7348982" h="18008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10263" y="2730503"/>
            <a:ext cx="939803" cy="939803"/>
            <a:chOff x="0" y="0"/>
            <a:chExt cx="1253071" cy="125307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253109" cy="1252982"/>
            </a:xfrm>
            <a:custGeom>
              <a:avLst/>
              <a:gdLst/>
              <a:ahLst/>
              <a:cxnLst/>
              <a:rect l="l" t="t" r="r" b="b"/>
              <a:pathLst>
                <a:path w="1253109" h="125298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868680" y="2788920"/>
            <a:ext cx="822960" cy="822960"/>
            <a:chOff x="0" y="0"/>
            <a:chExt cx="1097280" cy="109728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920240" y="2743200"/>
            <a:ext cx="3931920" cy="822960"/>
            <a:chOff x="0" y="0"/>
            <a:chExt cx="5242560" cy="1097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95" b="-4309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524256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Scattered Data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22960" y="3694176"/>
            <a:ext cx="4937760" cy="1645920"/>
            <a:chOff x="0" y="0"/>
            <a:chExt cx="6583680" cy="21945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 records live in siloed systems ,no unified clinical view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79543" y="2364743"/>
            <a:ext cx="5511803" cy="3225803"/>
            <a:chOff x="0" y="0"/>
            <a:chExt cx="7349071" cy="430107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7315200" cy="4267200"/>
            </a:xfrm>
            <a:custGeom>
              <a:avLst/>
              <a:gdLst/>
              <a:ahLst/>
              <a:cxnLst/>
              <a:rect l="l" t="t" r="r" b="b"/>
              <a:pathLst>
                <a:path w="7315200" h="4267200">
                  <a:moveTo>
                    <a:pt x="0" y="0"/>
                  </a:moveTo>
                  <a:lnTo>
                    <a:pt x="7315200" y="0"/>
                  </a:lnTo>
                  <a:lnTo>
                    <a:pt x="73152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7348982" cy="4300982"/>
            </a:xfrm>
            <a:custGeom>
              <a:avLst/>
              <a:gdLst/>
              <a:ahLst/>
              <a:cxnLst/>
              <a:rect l="l" t="t" r="r" b="b"/>
              <a:pathLst>
                <a:path w="7348982" h="4300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284091"/>
                  </a:lnTo>
                  <a:cubicBezTo>
                    <a:pt x="7348982" y="4293489"/>
                    <a:pt x="7341362" y="4300982"/>
                    <a:pt x="73320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332091" y="4267200"/>
                  </a:lnTo>
                  <a:lnTo>
                    <a:pt x="7332091" y="4284091"/>
                  </a:lnTo>
                  <a:lnTo>
                    <a:pt x="7315200" y="4284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479543" y="2364743"/>
            <a:ext cx="5511803" cy="135131"/>
            <a:chOff x="0" y="0"/>
            <a:chExt cx="7349071" cy="180175"/>
          </a:xfrm>
        </p:grpSpPr>
        <p:sp>
          <p:nvSpPr>
            <p:cNvPr id="32" name="Freeform 32"/>
            <p:cNvSpPr/>
            <p:nvPr/>
          </p:nvSpPr>
          <p:spPr>
            <a:xfrm>
              <a:off x="16891" y="16891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7348982" cy="180088"/>
            </a:xfrm>
            <a:custGeom>
              <a:avLst/>
              <a:gdLst/>
              <a:ahLst/>
              <a:cxnLst/>
              <a:rect l="l" t="t" r="r" b="b"/>
              <a:pathLst>
                <a:path w="7348982" h="18008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6753863" y="2730503"/>
            <a:ext cx="939803" cy="939803"/>
            <a:chOff x="0" y="0"/>
            <a:chExt cx="1253071" cy="1253071"/>
          </a:xfrm>
        </p:grpSpPr>
        <p:sp>
          <p:nvSpPr>
            <p:cNvPr id="35" name="Freeform 35"/>
            <p:cNvSpPr/>
            <p:nvPr/>
          </p:nvSpPr>
          <p:spPr>
            <a:xfrm>
              <a:off x="16891" y="16891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1253109" cy="1252982"/>
            </a:xfrm>
            <a:custGeom>
              <a:avLst/>
              <a:gdLst/>
              <a:ahLst/>
              <a:cxnLst/>
              <a:rect l="l" t="t" r="r" b="b"/>
              <a:pathLst>
                <a:path w="1253109" h="125298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6812280" y="2788920"/>
            <a:ext cx="822960" cy="822960"/>
            <a:chOff x="0" y="0"/>
            <a:chExt cx="1097280" cy="1097280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7863840" y="2743200"/>
            <a:ext cx="3931920" cy="822960"/>
            <a:chOff x="0" y="0"/>
            <a:chExt cx="5242560" cy="10972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95" b="-43095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524256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Missed Alerts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66560" y="3694176"/>
            <a:ext cx="4937760" cy="1645920"/>
            <a:chOff x="0" y="0"/>
            <a:chExt cx="6583680" cy="21945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Critical warnings are delayed or lost in the noise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423143" y="2364743"/>
            <a:ext cx="5511803" cy="3225803"/>
            <a:chOff x="0" y="0"/>
            <a:chExt cx="7349071" cy="4301071"/>
          </a:xfrm>
        </p:grpSpPr>
        <p:sp>
          <p:nvSpPr>
            <p:cNvPr id="46" name="Freeform 46"/>
            <p:cNvSpPr/>
            <p:nvPr/>
          </p:nvSpPr>
          <p:spPr>
            <a:xfrm>
              <a:off x="16891" y="16891"/>
              <a:ext cx="7315200" cy="4267200"/>
            </a:xfrm>
            <a:custGeom>
              <a:avLst/>
              <a:gdLst/>
              <a:ahLst/>
              <a:cxnLst/>
              <a:rect l="l" t="t" r="r" b="b"/>
              <a:pathLst>
                <a:path w="7315200" h="4267200">
                  <a:moveTo>
                    <a:pt x="0" y="0"/>
                  </a:moveTo>
                  <a:lnTo>
                    <a:pt x="7315200" y="0"/>
                  </a:lnTo>
                  <a:lnTo>
                    <a:pt x="73152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0"/>
              <a:ext cx="7348982" cy="4300982"/>
            </a:xfrm>
            <a:custGeom>
              <a:avLst/>
              <a:gdLst/>
              <a:ahLst/>
              <a:cxnLst/>
              <a:rect l="l" t="t" r="r" b="b"/>
              <a:pathLst>
                <a:path w="7348982" h="4300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284091"/>
                  </a:lnTo>
                  <a:cubicBezTo>
                    <a:pt x="7348982" y="4293489"/>
                    <a:pt x="7341362" y="4300982"/>
                    <a:pt x="73320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332091" y="4267200"/>
                  </a:lnTo>
                  <a:lnTo>
                    <a:pt x="7332091" y="4284091"/>
                  </a:lnTo>
                  <a:lnTo>
                    <a:pt x="7315200" y="4284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2423143" y="2364743"/>
            <a:ext cx="5511803" cy="135131"/>
            <a:chOff x="0" y="0"/>
            <a:chExt cx="7349071" cy="180175"/>
          </a:xfrm>
        </p:grpSpPr>
        <p:sp>
          <p:nvSpPr>
            <p:cNvPr id="49" name="Freeform 49"/>
            <p:cNvSpPr/>
            <p:nvPr/>
          </p:nvSpPr>
          <p:spPr>
            <a:xfrm>
              <a:off x="16891" y="16891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0"/>
              <a:ext cx="7348982" cy="180088"/>
            </a:xfrm>
            <a:custGeom>
              <a:avLst/>
              <a:gdLst/>
              <a:ahLst/>
              <a:cxnLst/>
              <a:rect l="l" t="t" r="r" b="b"/>
              <a:pathLst>
                <a:path w="7348982" h="18008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2697463" y="2730503"/>
            <a:ext cx="939803" cy="939803"/>
            <a:chOff x="0" y="0"/>
            <a:chExt cx="1253071" cy="1253071"/>
          </a:xfrm>
        </p:grpSpPr>
        <p:sp>
          <p:nvSpPr>
            <p:cNvPr id="52" name="Freeform 52"/>
            <p:cNvSpPr/>
            <p:nvPr/>
          </p:nvSpPr>
          <p:spPr>
            <a:xfrm>
              <a:off x="16891" y="16891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0" y="0"/>
              <a:ext cx="1253109" cy="1252982"/>
            </a:xfrm>
            <a:custGeom>
              <a:avLst/>
              <a:gdLst/>
              <a:ahLst/>
              <a:cxnLst/>
              <a:rect l="l" t="t" r="r" b="b"/>
              <a:pathLst>
                <a:path w="1253109" h="125298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2755880" y="2788920"/>
            <a:ext cx="822960" cy="822960"/>
            <a:chOff x="0" y="0"/>
            <a:chExt cx="1097280" cy="1097280"/>
          </a:xfrm>
        </p:grpSpPr>
        <p:sp>
          <p:nvSpPr>
            <p:cNvPr id="55" name="Freeform 55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13807440" y="2743200"/>
            <a:ext cx="3931920" cy="822960"/>
            <a:chOff x="0" y="0"/>
            <a:chExt cx="5242560" cy="10972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95" b="-43095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524256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Manual Pressure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710160" y="3694176"/>
            <a:ext cx="4937760" cy="1645920"/>
            <a:chOff x="0" y="0"/>
            <a:chExt cx="6583680" cy="219456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Clinicians rely on memory during high stakes decisions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498599" y="6205223"/>
            <a:ext cx="5511803" cy="3225803"/>
            <a:chOff x="0" y="0"/>
            <a:chExt cx="7349071" cy="4301071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7315200" cy="4267200"/>
            </a:xfrm>
            <a:custGeom>
              <a:avLst/>
              <a:gdLst/>
              <a:ahLst/>
              <a:cxnLst/>
              <a:rect l="l" t="t" r="r" b="b"/>
              <a:pathLst>
                <a:path w="7315200" h="4267200">
                  <a:moveTo>
                    <a:pt x="0" y="0"/>
                  </a:moveTo>
                  <a:lnTo>
                    <a:pt x="7315200" y="0"/>
                  </a:lnTo>
                  <a:lnTo>
                    <a:pt x="73152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7348982" cy="4300982"/>
            </a:xfrm>
            <a:custGeom>
              <a:avLst/>
              <a:gdLst/>
              <a:ahLst/>
              <a:cxnLst/>
              <a:rect l="l" t="t" r="r" b="b"/>
              <a:pathLst>
                <a:path w="7348982" h="4300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284091"/>
                  </a:lnTo>
                  <a:cubicBezTo>
                    <a:pt x="7348982" y="4293489"/>
                    <a:pt x="7341362" y="4300982"/>
                    <a:pt x="73320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332091" y="4267200"/>
                  </a:lnTo>
                  <a:lnTo>
                    <a:pt x="7332091" y="4284091"/>
                  </a:lnTo>
                  <a:lnTo>
                    <a:pt x="7315200" y="4284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3498599" y="6205223"/>
            <a:ext cx="5511803" cy="135131"/>
            <a:chOff x="0" y="0"/>
            <a:chExt cx="7349071" cy="180175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7348982" cy="180088"/>
            </a:xfrm>
            <a:custGeom>
              <a:avLst/>
              <a:gdLst/>
              <a:ahLst/>
              <a:cxnLst/>
              <a:rect l="l" t="t" r="r" b="b"/>
              <a:pathLst>
                <a:path w="7348982" h="18008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3772919" y="6570983"/>
            <a:ext cx="939803" cy="939803"/>
            <a:chOff x="0" y="0"/>
            <a:chExt cx="1253071" cy="1253071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1253109" cy="1252982"/>
            </a:xfrm>
            <a:custGeom>
              <a:avLst/>
              <a:gdLst/>
              <a:ahLst/>
              <a:cxnLst/>
              <a:rect l="l" t="t" r="r" b="b"/>
              <a:pathLst>
                <a:path w="1253109" h="125298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3831336" y="6629400"/>
            <a:ext cx="822960" cy="822960"/>
            <a:chOff x="0" y="0"/>
            <a:chExt cx="1097280" cy="1097280"/>
          </a:xfrm>
        </p:grpSpPr>
        <p:sp>
          <p:nvSpPr>
            <p:cNvPr id="72" name="Freeform 72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4882896" y="6583680"/>
            <a:ext cx="3931920" cy="822960"/>
            <a:chOff x="0" y="0"/>
            <a:chExt cx="5242560" cy="109728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95" b="-43095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524256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Prescription Errors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3785616" y="7534656"/>
            <a:ext cx="4937760" cy="1645920"/>
            <a:chOff x="0" y="0"/>
            <a:chExt cx="6583680" cy="219456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Drug interactions go undetected without automated safety layers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405623" y="6205223"/>
            <a:ext cx="5511803" cy="3225803"/>
            <a:chOff x="0" y="0"/>
            <a:chExt cx="7349071" cy="4301071"/>
          </a:xfrm>
        </p:grpSpPr>
        <p:sp>
          <p:nvSpPr>
            <p:cNvPr id="80" name="Freeform 80"/>
            <p:cNvSpPr/>
            <p:nvPr/>
          </p:nvSpPr>
          <p:spPr>
            <a:xfrm>
              <a:off x="16891" y="16891"/>
              <a:ext cx="7315200" cy="4267200"/>
            </a:xfrm>
            <a:custGeom>
              <a:avLst/>
              <a:gdLst/>
              <a:ahLst/>
              <a:cxnLst/>
              <a:rect l="l" t="t" r="r" b="b"/>
              <a:pathLst>
                <a:path w="7315200" h="4267200">
                  <a:moveTo>
                    <a:pt x="0" y="0"/>
                  </a:moveTo>
                  <a:lnTo>
                    <a:pt x="7315200" y="0"/>
                  </a:lnTo>
                  <a:lnTo>
                    <a:pt x="73152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0" y="0"/>
              <a:ext cx="7348982" cy="4300982"/>
            </a:xfrm>
            <a:custGeom>
              <a:avLst/>
              <a:gdLst/>
              <a:ahLst/>
              <a:cxnLst/>
              <a:rect l="l" t="t" r="r" b="b"/>
              <a:pathLst>
                <a:path w="7348982" h="4300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284091"/>
                  </a:lnTo>
                  <a:cubicBezTo>
                    <a:pt x="7348982" y="4293489"/>
                    <a:pt x="7341362" y="4300982"/>
                    <a:pt x="73320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332091" y="4267200"/>
                  </a:lnTo>
                  <a:lnTo>
                    <a:pt x="7332091" y="4284091"/>
                  </a:lnTo>
                  <a:lnTo>
                    <a:pt x="7315200" y="4284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9405623" y="6205223"/>
            <a:ext cx="5511803" cy="135131"/>
            <a:chOff x="0" y="0"/>
            <a:chExt cx="7349071" cy="180175"/>
          </a:xfrm>
        </p:grpSpPr>
        <p:sp>
          <p:nvSpPr>
            <p:cNvPr id="83" name="Freeform 83"/>
            <p:cNvSpPr/>
            <p:nvPr/>
          </p:nvSpPr>
          <p:spPr>
            <a:xfrm>
              <a:off x="16891" y="16891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84" name="Freeform 84"/>
            <p:cNvSpPr/>
            <p:nvPr/>
          </p:nvSpPr>
          <p:spPr>
            <a:xfrm>
              <a:off x="0" y="0"/>
              <a:ext cx="7348982" cy="180088"/>
            </a:xfrm>
            <a:custGeom>
              <a:avLst/>
              <a:gdLst/>
              <a:ahLst/>
              <a:cxnLst/>
              <a:rect l="l" t="t" r="r" b="b"/>
              <a:pathLst>
                <a:path w="7348982" h="18008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9679943" y="6570983"/>
            <a:ext cx="939803" cy="939803"/>
            <a:chOff x="0" y="0"/>
            <a:chExt cx="1253071" cy="1253071"/>
          </a:xfrm>
        </p:grpSpPr>
        <p:sp>
          <p:nvSpPr>
            <p:cNvPr id="86" name="Freeform 86"/>
            <p:cNvSpPr/>
            <p:nvPr/>
          </p:nvSpPr>
          <p:spPr>
            <a:xfrm>
              <a:off x="16891" y="16891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87" name="Freeform 87"/>
            <p:cNvSpPr/>
            <p:nvPr/>
          </p:nvSpPr>
          <p:spPr>
            <a:xfrm>
              <a:off x="0" y="0"/>
              <a:ext cx="1253109" cy="1252982"/>
            </a:xfrm>
            <a:custGeom>
              <a:avLst/>
              <a:gdLst/>
              <a:ahLst/>
              <a:cxnLst/>
              <a:rect l="l" t="t" r="r" b="b"/>
              <a:pathLst>
                <a:path w="1253109" h="125298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88" name="Group 88"/>
          <p:cNvGrpSpPr/>
          <p:nvPr/>
        </p:nvGrpSpPr>
        <p:grpSpPr>
          <a:xfrm>
            <a:off x="9738360" y="6629400"/>
            <a:ext cx="822960" cy="822960"/>
            <a:chOff x="0" y="0"/>
            <a:chExt cx="1097280" cy="1097280"/>
          </a:xfrm>
        </p:grpSpPr>
        <p:sp>
          <p:nvSpPr>
            <p:cNvPr id="89" name="Freeform 89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90" name="Group 90"/>
          <p:cNvGrpSpPr/>
          <p:nvPr/>
        </p:nvGrpSpPr>
        <p:grpSpPr>
          <a:xfrm>
            <a:off x="10789920" y="6583680"/>
            <a:ext cx="3931920" cy="822960"/>
            <a:chOff x="0" y="0"/>
            <a:chExt cx="5242560" cy="109728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95" b="-43095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9525"/>
              <a:ext cx="524256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Dangerous Handovers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692640" y="7534656"/>
            <a:ext cx="4937760" cy="1645920"/>
            <a:chOff x="0" y="0"/>
            <a:chExt cx="6583680" cy="219456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Poor shift transitions cause life-threatening miscommunication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0" y="10045703"/>
            <a:ext cx="18287970" cy="228908"/>
            <a:chOff x="0" y="0"/>
            <a:chExt cx="4930219" cy="59432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930219" cy="59432"/>
            </a:xfrm>
            <a:custGeom>
              <a:avLst/>
              <a:gdLst/>
              <a:ahLst/>
              <a:cxnLst/>
              <a:rect l="l" t="t" r="r" b="b"/>
              <a:pathLst>
                <a:path w="4930219" h="59432">
                  <a:moveTo>
                    <a:pt x="0" y="0"/>
                  </a:moveTo>
                  <a:lnTo>
                    <a:pt x="4930219" y="0"/>
                  </a:lnTo>
                  <a:lnTo>
                    <a:pt x="4930219" y="59432"/>
                  </a:lnTo>
                  <a:lnTo>
                    <a:pt x="0" y="59432"/>
                  </a:lnTo>
                  <a:close/>
                </a:path>
              </a:pathLst>
            </a:custGeom>
            <a:solidFill>
              <a:srgbClr val="1B1B27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0" y="-47625"/>
              <a:ext cx="4930219" cy="107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14400" y="109728"/>
            <a:ext cx="7315200" cy="640080"/>
            <a:chOff x="0" y="0"/>
            <a:chExt cx="975360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753600" cy="853440"/>
            </a:xfrm>
            <a:custGeom>
              <a:avLst/>
              <a:gdLst/>
              <a:ahLst/>
              <a:cxnLst/>
              <a:rect l="l" t="t" r="r" b="b"/>
              <a:pathLst>
                <a:path w="9753600" h="85344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75360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600">
                  <a:solidFill>
                    <a:srgbClr val="D0F0F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WHY THIS MATTERS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731520"/>
            <a:ext cx="16459200" cy="1005840"/>
            <a:chOff x="0" y="0"/>
            <a:chExt cx="21945600" cy="134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846" b="-26884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94560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Human Cost of Systemic Failure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5943" y="2181863"/>
            <a:ext cx="3957323" cy="7249163"/>
            <a:chOff x="0" y="0"/>
            <a:chExt cx="5276431" cy="966555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5242560" cy="9631681"/>
            </a:xfrm>
            <a:custGeom>
              <a:avLst/>
              <a:gdLst/>
              <a:ahLst/>
              <a:cxnLst/>
              <a:rect l="l" t="t" r="r" b="b"/>
              <a:pathLst>
                <a:path w="5242560" h="9631681">
                  <a:moveTo>
                    <a:pt x="0" y="0"/>
                  </a:moveTo>
                  <a:lnTo>
                    <a:pt x="5242560" y="0"/>
                  </a:lnTo>
                  <a:lnTo>
                    <a:pt x="524256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276342" cy="9665462"/>
            </a:xfrm>
            <a:custGeom>
              <a:avLst/>
              <a:gdLst/>
              <a:ahLst/>
              <a:cxnLst/>
              <a:rect l="l" t="t" r="r" b="b"/>
              <a:pathLst>
                <a:path w="5276342" h="966546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9648572"/>
                  </a:lnTo>
                  <a:cubicBezTo>
                    <a:pt x="5276342" y="9657969"/>
                    <a:pt x="5268722" y="9665462"/>
                    <a:pt x="525945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259451" y="9631680"/>
                  </a:lnTo>
                  <a:lnTo>
                    <a:pt x="5259451" y="9648572"/>
                  </a:lnTo>
                  <a:lnTo>
                    <a:pt x="5242560" y="9648572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870967" y="2456183"/>
            <a:ext cx="1305563" cy="1305563"/>
            <a:chOff x="0" y="0"/>
            <a:chExt cx="1740751" cy="174075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740662" cy="1740662"/>
            </a:xfrm>
            <a:custGeom>
              <a:avLst/>
              <a:gdLst/>
              <a:ahLst/>
              <a:cxnLst/>
              <a:rect l="l" t="t" r="r" b="b"/>
              <a:pathLst>
                <a:path w="1740662" h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929384" y="2514600"/>
            <a:ext cx="1170432" cy="1170432"/>
            <a:chOff x="0" y="0"/>
            <a:chExt cx="1560576" cy="1560576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560576" cy="1560576"/>
            </a:xfrm>
            <a:custGeom>
              <a:avLst/>
              <a:gdLst/>
              <a:ahLst/>
              <a:cxnLst/>
              <a:rect l="l" t="t" r="r" b="b"/>
              <a:pathLst>
                <a:path w="1560576" h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1560576"/>
                  </a:lnTo>
                  <a:lnTo>
                    <a:pt x="0" y="1560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731520" y="4023360"/>
            <a:ext cx="3566160" cy="1554480"/>
            <a:chOff x="0" y="0"/>
            <a:chExt cx="4754880" cy="2072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754880" cy="2072640"/>
            </a:xfrm>
            <a:custGeom>
              <a:avLst/>
              <a:gdLst/>
              <a:ahLst/>
              <a:cxnLst/>
              <a:rect l="l" t="t" r="r" b="b"/>
              <a:pathLst>
                <a:path w="4754880" h="2072640">
                  <a:moveTo>
                    <a:pt x="0" y="0"/>
                  </a:moveTo>
                  <a:lnTo>
                    <a:pt x="4754880" y="0"/>
                  </a:lnTo>
                  <a:lnTo>
                    <a:pt x="47548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" r="-592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754880" cy="2091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120"/>
                </a:lnSpc>
              </a:pPr>
              <a:r>
                <a:rPr lang="en-US" sz="7600" b="1">
                  <a:solidFill>
                    <a:srgbClr val="02809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3rd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1520" y="5632704"/>
            <a:ext cx="3566160" cy="822960"/>
            <a:chOff x="0" y="0"/>
            <a:chExt cx="4754880" cy="1097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54880" cy="1097280"/>
            </a:xfrm>
            <a:custGeom>
              <a:avLst/>
              <a:gdLst/>
              <a:ahLst/>
              <a:cxnLst/>
              <a:rect l="l" t="t" r="r" b="b"/>
              <a:pathLst>
                <a:path w="4754880" h="10972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75488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Leading Cause of Death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22960" y="6583680"/>
            <a:ext cx="3383280" cy="2468880"/>
            <a:chOff x="0" y="0"/>
            <a:chExt cx="4511040" cy="32918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511040" cy="3291840"/>
            </a:xfrm>
            <a:custGeom>
              <a:avLst/>
              <a:gdLst/>
              <a:ahLst/>
              <a:cxnLst/>
              <a:rect l="l" t="t" r="r" b="b"/>
              <a:pathLst>
                <a:path w="4511040" h="3291840">
                  <a:moveTo>
                    <a:pt x="0" y="0"/>
                  </a:moveTo>
                  <a:lnTo>
                    <a:pt x="4511040" y="0"/>
                  </a:lnTo>
                  <a:lnTo>
                    <a:pt x="45110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626" r="-4362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04775"/>
              <a:ext cx="4511040" cy="33966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64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 errors rank among the top preventable causes of mortality globally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888487" y="2181863"/>
            <a:ext cx="3957323" cy="7249163"/>
            <a:chOff x="0" y="0"/>
            <a:chExt cx="5276431" cy="966555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5242560" cy="9631681"/>
            </a:xfrm>
            <a:custGeom>
              <a:avLst/>
              <a:gdLst/>
              <a:ahLst/>
              <a:cxnLst/>
              <a:rect l="l" t="t" r="r" b="b"/>
              <a:pathLst>
                <a:path w="5242560" h="9631681">
                  <a:moveTo>
                    <a:pt x="0" y="0"/>
                  </a:moveTo>
                  <a:lnTo>
                    <a:pt x="5242560" y="0"/>
                  </a:lnTo>
                  <a:lnTo>
                    <a:pt x="524256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5276342" cy="9665462"/>
            </a:xfrm>
            <a:custGeom>
              <a:avLst/>
              <a:gdLst/>
              <a:ahLst/>
              <a:cxnLst/>
              <a:rect l="l" t="t" r="r" b="b"/>
              <a:pathLst>
                <a:path w="5276342" h="966546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9648572"/>
                  </a:lnTo>
                  <a:cubicBezTo>
                    <a:pt x="5276342" y="9657969"/>
                    <a:pt x="5268722" y="9665462"/>
                    <a:pt x="525945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259451" y="9631680"/>
                  </a:lnTo>
                  <a:lnTo>
                    <a:pt x="5259451" y="9648572"/>
                  </a:lnTo>
                  <a:lnTo>
                    <a:pt x="5242560" y="9648572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223511" y="2456183"/>
            <a:ext cx="1305563" cy="1305563"/>
            <a:chOff x="0" y="0"/>
            <a:chExt cx="1740751" cy="1740751"/>
          </a:xfrm>
        </p:grpSpPr>
        <p:sp>
          <p:nvSpPr>
            <p:cNvPr id="32" name="Freeform 32"/>
            <p:cNvSpPr/>
            <p:nvPr/>
          </p:nvSpPr>
          <p:spPr>
            <a:xfrm>
              <a:off x="16891" y="16891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740662" cy="1740662"/>
            </a:xfrm>
            <a:custGeom>
              <a:avLst/>
              <a:gdLst/>
              <a:ahLst/>
              <a:cxnLst/>
              <a:rect l="l" t="t" r="r" b="b"/>
              <a:pathLst>
                <a:path w="1740662" h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6281928" y="2514600"/>
            <a:ext cx="1170432" cy="1170432"/>
            <a:chOff x="0" y="0"/>
            <a:chExt cx="1560576" cy="1560576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1560576" cy="1560576"/>
            </a:xfrm>
            <a:custGeom>
              <a:avLst/>
              <a:gdLst/>
              <a:ahLst/>
              <a:cxnLst/>
              <a:rect l="l" t="t" r="r" b="b"/>
              <a:pathLst>
                <a:path w="1560576" h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1560576"/>
                  </a:lnTo>
                  <a:lnTo>
                    <a:pt x="0" y="1560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5084064" y="4023360"/>
            <a:ext cx="3566160" cy="1554480"/>
            <a:chOff x="0" y="0"/>
            <a:chExt cx="4754880" cy="20726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754880" cy="2072640"/>
            </a:xfrm>
            <a:custGeom>
              <a:avLst/>
              <a:gdLst/>
              <a:ahLst/>
              <a:cxnLst/>
              <a:rect l="l" t="t" r="r" b="b"/>
              <a:pathLst>
                <a:path w="4754880" h="2072640">
                  <a:moveTo>
                    <a:pt x="0" y="0"/>
                  </a:moveTo>
                  <a:lnTo>
                    <a:pt x="4754880" y="0"/>
                  </a:lnTo>
                  <a:lnTo>
                    <a:pt x="47548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" r="-5927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4754880" cy="2091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120"/>
                </a:lnSpc>
              </a:pPr>
              <a:r>
                <a:rPr lang="en-US" sz="7600" b="1">
                  <a:solidFill>
                    <a:srgbClr val="02809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50%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084064" y="5632704"/>
            <a:ext cx="3566160" cy="822960"/>
            <a:chOff x="0" y="0"/>
            <a:chExt cx="4754880" cy="10972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754880" cy="1097280"/>
            </a:xfrm>
            <a:custGeom>
              <a:avLst/>
              <a:gdLst/>
              <a:ahLst/>
              <a:cxnLst/>
              <a:rect l="l" t="t" r="r" b="b"/>
              <a:pathLst>
                <a:path w="4754880" h="10972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475488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Preventable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175504" y="6583680"/>
            <a:ext cx="3383280" cy="2468880"/>
            <a:chOff x="0" y="0"/>
            <a:chExt cx="4511040" cy="32918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511040" cy="3291840"/>
            </a:xfrm>
            <a:custGeom>
              <a:avLst/>
              <a:gdLst/>
              <a:ahLst/>
              <a:cxnLst/>
              <a:rect l="l" t="t" r="r" b="b"/>
              <a:pathLst>
                <a:path w="4511040" h="3291840">
                  <a:moveTo>
                    <a:pt x="0" y="0"/>
                  </a:moveTo>
                  <a:lnTo>
                    <a:pt x="4511040" y="0"/>
                  </a:lnTo>
                  <a:lnTo>
                    <a:pt x="45110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626" r="-4362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04775"/>
              <a:ext cx="4511040" cy="33966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64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Adverse drug events could be avoided with proper safety systems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241031" y="2181863"/>
            <a:ext cx="3957323" cy="7249163"/>
            <a:chOff x="0" y="0"/>
            <a:chExt cx="5276431" cy="9665551"/>
          </a:xfrm>
        </p:grpSpPr>
        <p:sp>
          <p:nvSpPr>
            <p:cNvPr id="46" name="Freeform 46"/>
            <p:cNvSpPr/>
            <p:nvPr/>
          </p:nvSpPr>
          <p:spPr>
            <a:xfrm>
              <a:off x="16891" y="16891"/>
              <a:ext cx="5242560" cy="9631681"/>
            </a:xfrm>
            <a:custGeom>
              <a:avLst/>
              <a:gdLst/>
              <a:ahLst/>
              <a:cxnLst/>
              <a:rect l="l" t="t" r="r" b="b"/>
              <a:pathLst>
                <a:path w="5242560" h="9631681">
                  <a:moveTo>
                    <a:pt x="0" y="0"/>
                  </a:moveTo>
                  <a:lnTo>
                    <a:pt x="5242560" y="0"/>
                  </a:lnTo>
                  <a:lnTo>
                    <a:pt x="524256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0"/>
              <a:ext cx="5276342" cy="9665462"/>
            </a:xfrm>
            <a:custGeom>
              <a:avLst/>
              <a:gdLst/>
              <a:ahLst/>
              <a:cxnLst/>
              <a:rect l="l" t="t" r="r" b="b"/>
              <a:pathLst>
                <a:path w="5276342" h="966546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9648572"/>
                  </a:lnTo>
                  <a:cubicBezTo>
                    <a:pt x="5276342" y="9657969"/>
                    <a:pt x="5268722" y="9665462"/>
                    <a:pt x="525945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259451" y="9631680"/>
                  </a:lnTo>
                  <a:lnTo>
                    <a:pt x="5259451" y="9648572"/>
                  </a:lnTo>
                  <a:lnTo>
                    <a:pt x="5242560" y="9648572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0576055" y="2456183"/>
            <a:ext cx="1305563" cy="1305563"/>
            <a:chOff x="0" y="0"/>
            <a:chExt cx="1740751" cy="1740751"/>
          </a:xfrm>
        </p:grpSpPr>
        <p:sp>
          <p:nvSpPr>
            <p:cNvPr id="49" name="Freeform 49"/>
            <p:cNvSpPr/>
            <p:nvPr/>
          </p:nvSpPr>
          <p:spPr>
            <a:xfrm>
              <a:off x="16891" y="16891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0"/>
              <a:ext cx="1740662" cy="1740662"/>
            </a:xfrm>
            <a:custGeom>
              <a:avLst/>
              <a:gdLst/>
              <a:ahLst/>
              <a:cxnLst/>
              <a:rect l="l" t="t" r="r" b="b"/>
              <a:pathLst>
                <a:path w="1740662" h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0634472" y="2514600"/>
            <a:ext cx="1170432" cy="1170432"/>
            <a:chOff x="0" y="0"/>
            <a:chExt cx="1560576" cy="1560576"/>
          </a:xfrm>
        </p:grpSpPr>
        <p:sp>
          <p:nvSpPr>
            <p:cNvPr id="52" name="Freeform 52" descr="preencoded.png"/>
            <p:cNvSpPr/>
            <p:nvPr/>
          </p:nvSpPr>
          <p:spPr>
            <a:xfrm>
              <a:off x="0" y="0"/>
              <a:ext cx="1560576" cy="1560576"/>
            </a:xfrm>
            <a:custGeom>
              <a:avLst/>
              <a:gdLst/>
              <a:ahLst/>
              <a:cxnLst/>
              <a:rect l="l" t="t" r="r" b="b"/>
              <a:pathLst>
                <a:path w="1560576" h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1560576"/>
                  </a:lnTo>
                  <a:lnTo>
                    <a:pt x="0" y="1560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9436608" y="4023360"/>
            <a:ext cx="3566160" cy="1554480"/>
            <a:chOff x="0" y="0"/>
            <a:chExt cx="4754880" cy="20726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754880" cy="2072640"/>
            </a:xfrm>
            <a:custGeom>
              <a:avLst/>
              <a:gdLst/>
              <a:ahLst/>
              <a:cxnLst/>
              <a:rect l="l" t="t" r="r" b="b"/>
              <a:pathLst>
                <a:path w="4754880" h="2072640">
                  <a:moveTo>
                    <a:pt x="0" y="0"/>
                  </a:moveTo>
                  <a:lnTo>
                    <a:pt x="4754880" y="0"/>
                  </a:lnTo>
                  <a:lnTo>
                    <a:pt x="47548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" r="-5927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4754880" cy="2091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120"/>
                </a:lnSpc>
              </a:pPr>
              <a:r>
                <a:rPr lang="en-US" sz="7600" b="1">
                  <a:solidFill>
                    <a:srgbClr val="02809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2hrs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436608" y="5632704"/>
            <a:ext cx="3566160" cy="822960"/>
            <a:chOff x="0" y="0"/>
            <a:chExt cx="4754880" cy="10972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754880" cy="1097280"/>
            </a:xfrm>
            <a:custGeom>
              <a:avLst/>
              <a:gdLst/>
              <a:ahLst/>
              <a:cxnLst/>
              <a:rect l="l" t="t" r="r" b="b"/>
              <a:pathLst>
                <a:path w="4754880" h="10972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475488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Lost Per Shift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528048" y="6583680"/>
            <a:ext cx="3383280" cy="2468880"/>
            <a:chOff x="0" y="0"/>
            <a:chExt cx="4511040" cy="32918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511040" cy="3291840"/>
            </a:xfrm>
            <a:custGeom>
              <a:avLst/>
              <a:gdLst/>
              <a:ahLst/>
              <a:cxnLst/>
              <a:rect l="l" t="t" r="r" b="b"/>
              <a:pathLst>
                <a:path w="4511040" h="3291840">
                  <a:moveTo>
                    <a:pt x="0" y="0"/>
                  </a:moveTo>
                  <a:lnTo>
                    <a:pt x="4511040" y="0"/>
                  </a:lnTo>
                  <a:lnTo>
                    <a:pt x="45110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626" r="-43626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04775"/>
              <a:ext cx="4511040" cy="33966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64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clinician time wasted on manual documentation daily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593575" y="2181863"/>
            <a:ext cx="3957323" cy="7249163"/>
            <a:chOff x="0" y="0"/>
            <a:chExt cx="5276431" cy="9665551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5242560" cy="9631681"/>
            </a:xfrm>
            <a:custGeom>
              <a:avLst/>
              <a:gdLst/>
              <a:ahLst/>
              <a:cxnLst/>
              <a:rect l="l" t="t" r="r" b="b"/>
              <a:pathLst>
                <a:path w="5242560" h="9631681">
                  <a:moveTo>
                    <a:pt x="0" y="0"/>
                  </a:moveTo>
                  <a:lnTo>
                    <a:pt x="5242560" y="0"/>
                  </a:lnTo>
                  <a:lnTo>
                    <a:pt x="524256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5276342" cy="9665462"/>
            </a:xfrm>
            <a:custGeom>
              <a:avLst/>
              <a:gdLst/>
              <a:ahLst/>
              <a:cxnLst/>
              <a:rect l="l" t="t" r="r" b="b"/>
              <a:pathLst>
                <a:path w="5276342" h="966546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9648572"/>
                  </a:lnTo>
                  <a:cubicBezTo>
                    <a:pt x="5276342" y="9657969"/>
                    <a:pt x="5268722" y="9665462"/>
                    <a:pt x="525945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259451" y="9631680"/>
                  </a:lnTo>
                  <a:lnTo>
                    <a:pt x="5259451" y="9648572"/>
                  </a:lnTo>
                  <a:lnTo>
                    <a:pt x="5242560" y="9648572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4928599" y="2456183"/>
            <a:ext cx="1305563" cy="1305563"/>
            <a:chOff x="0" y="0"/>
            <a:chExt cx="1740751" cy="1740751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1740662" cy="1740662"/>
            </a:xfrm>
            <a:custGeom>
              <a:avLst/>
              <a:gdLst/>
              <a:ahLst/>
              <a:cxnLst/>
              <a:rect l="l" t="t" r="r" b="b"/>
              <a:pathLst>
                <a:path w="1740662" h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4987016" y="2514600"/>
            <a:ext cx="1170432" cy="1170432"/>
            <a:chOff x="0" y="0"/>
            <a:chExt cx="1560576" cy="1560576"/>
          </a:xfrm>
        </p:grpSpPr>
        <p:sp>
          <p:nvSpPr>
            <p:cNvPr id="69" name="Freeform 69" descr="preencoded.png"/>
            <p:cNvSpPr/>
            <p:nvPr/>
          </p:nvSpPr>
          <p:spPr>
            <a:xfrm>
              <a:off x="0" y="0"/>
              <a:ext cx="1560576" cy="1560576"/>
            </a:xfrm>
            <a:custGeom>
              <a:avLst/>
              <a:gdLst/>
              <a:ahLst/>
              <a:cxnLst/>
              <a:rect l="l" t="t" r="r" b="b"/>
              <a:pathLst>
                <a:path w="1560576" h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1560576"/>
                  </a:lnTo>
                  <a:lnTo>
                    <a:pt x="0" y="1560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13789152" y="4023360"/>
            <a:ext cx="3566160" cy="1554480"/>
            <a:chOff x="0" y="0"/>
            <a:chExt cx="4754880" cy="20726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754880" cy="2072640"/>
            </a:xfrm>
            <a:custGeom>
              <a:avLst/>
              <a:gdLst/>
              <a:ahLst/>
              <a:cxnLst/>
              <a:rect l="l" t="t" r="r" b="b"/>
              <a:pathLst>
                <a:path w="4754880" h="2072640">
                  <a:moveTo>
                    <a:pt x="0" y="0"/>
                  </a:moveTo>
                  <a:lnTo>
                    <a:pt x="4754880" y="0"/>
                  </a:lnTo>
                  <a:lnTo>
                    <a:pt x="47548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" r="-5927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4754880" cy="2091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120"/>
                </a:lnSpc>
              </a:pPr>
              <a:r>
                <a:rPr lang="en-US" sz="7600" b="1">
                  <a:solidFill>
                    <a:srgbClr val="02809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$1B+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3789152" y="5632704"/>
            <a:ext cx="3566160" cy="822960"/>
            <a:chOff x="0" y="0"/>
            <a:chExt cx="4754880" cy="109728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754880" cy="1097280"/>
            </a:xfrm>
            <a:custGeom>
              <a:avLst/>
              <a:gdLst/>
              <a:ahLst/>
              <a:cxnLst/>
              <a:rect l="l" t="t" r="r" b="b"/>
              <a:pathLst>
                <a:path w="4754880" h="10972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475488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Cost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3880592" y="6583680"/>
            <a:ext cx="3383280" cy="2468880"/>
            <a:chOff x="0" y="0"/>
            <a:chExt cx="4511040" cy="32918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511040" cy="3291840"/>
            </a:xfrm>
            <a:custGeom>
              <a:avLst/>
              <a:gdLst/>
              <a:ahLst/>
              <a:cxnLst/>
              <a:rect l="l" t="t" r="r" b="b"/>
              <a:pathLst>
                <a:path w="4511040" h="3291840">
                  <a:moveTo>
                    <a:pt x="0" y="0"/>
                  </a:moveTo>
                  <a:lnTo>
                    <a:pt x="4511040" y="0"/>
                  </a:lnTo>
                  <a:lnTo>
                    <a:pt x="45110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626" r="-43626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104775"/>
              <a:ext cx="4511040" cy="33966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64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Healthcare systems spend billions on error remediation and inefficiency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0" y="10020300"/>
            <a:ext cx="18288000" cy="254311"/>
            <a:chOff x="0" y="0"/>
            <a:chExt cx="4930219" cy="5943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930219" cy="59432"/>
            </a:xfrm>
            <a:custGeom>
              <a:avLst/>
              <a:gdLst/>
              <a:ahLst/>
              <a:cxnLst/>
              <a:rect l="l" t="t" r="r" b="b"/>
              <a:pathLst>
                <a:path w="4930219" h="59432">
                  <a:moveTo>
                    <a:pt x="0" y="0"/>
                  </a:moveTo>
                  <a:lnTo>
                    <a:pt x="4930219" y="0"/>
                  </a:lnTo>
                  <a:lnTo>
                    <a:pt x="4930219" y="59432"/>
                  </a:lnTo>
                  <a:lnTo>
                    <a:pt x="0" y="59432"/>
                  </a:lnTo>
                  <a:close/>
                </a:path>
              </a:pathLst>
            </a:custGeom>
            <a:solidFill>
              <a:srgbClr val="1B1B27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4930219" cy="107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838944" y="685805"/>
            <a:ext cx="6400800" cy="640080"/>
            <a:chOff x="0" y="0"/>
            <a:chExt cx="853440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34400" cy="853440"/>
            </a:xfrm>
            <a:custGeom>
              <a:avLst/>
              <a:gdLst/>
              <a:ahLst/>
              <a:cxnLst/>
              <a:rect l="l" t="t" r="r" b="b"/>
              <a:pathLst>
                <a:path w="8534400" h="85344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853440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600">
                  <a:solidFill>
                    <a:srgbClr val="00A89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SOLUTION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26746" y="2779177"/>
            <a:ext cx="11834518" cy="2743200"/>
            <a:chOff x="0" y="0"/>
            <a:chExt cx="15779357" cy="365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779358" cy="3657600"/>
            </a:xfrm>
            <a:custGeom>
              <a:avLst/>
              <a:gdLst/>
              <a:ahLst/>
              <a:cxnLst/>
              <a:rect l="l" t="t" r="r" b="b"/>
              <a:pathLst>
                <a:path w="15779358" h="3657600">
                  <a:moveTo>
                    <a:pt x="0" y="0"/>
                  </a:moveTo>
                  <a:lnTo>
                    <a:pt x="15779358" y="0"/>
                  </a:lnTo>
                  <a:lnTo>
                    <a:pt x="15779358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r="22734" b="-1495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61925"/>
              <a:ext cx="15779357" cy="3819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079"/>
                </a:lnSpc>
              </a:pPr>
              <a:r>
                <a:rPr lang="en-US" sz="6999" b="1">
                  <a:solidFill>
                    <a:srgbClr val="0A234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One Platform.</a:t>
              </a:r>
            </a:p>
            <a:p>
              <a:pPr algn="ctr">
                <a:lnSpc>
                  <a:spcPts val="10079"/>
                </a:lnSpc>
              </a:pPr>
              <a:r>
                <a:rPr lang="en-US" sz="6999" b="1">
                  <a:solidFill>
                    <a:srgbClr val="0A234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Complete Intelligence.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30215" y="6104293"/>
            <a:ext cx="9027571" cy="1558040"/>
            <a:chOff x="0" y="0"/>
            <a:chExt cx="14128539" cy="2438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128539" cy="2438400"/>
            </a:xfrm>
            <a:custGeom>
              <a:avLst/>
              <a:gdLst/>
              <a:ahLst/>
              <a:cxnLst/>
              <a:rect l="l" t="t" r="r" b="b"/>
              <a:pathLst>
                <a:path w="14128539" h="2438400">
                  <a:moveTo>
                    <a:pt x="0" y="0"/>
                  </a:moveTo>
                  <a:lnTo>
                    <a:pt x="14128539" y="0"/>
                  </a:lnTo>
                  <a:lnTo>
                    <a:pt x="1412853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r="13706" b="-4742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09550"/>
              <a:ext cx="14128539" cy="2647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07"/>
                </a:lnSpc>
              </a:pPr>
              <a:r>
                <a:rPr lang="en-US" sz="3099">
                  <a:solidFill>
                    <a:srgbClr val="0A23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Transforming hospitals from reactive silos into proactive, AI-driven environments.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10020300"/>
            <a:ext cx="18313336" cy="254311"/>
            <a:chOff x="0" y="0"/>
            <a:chExt cx="4930219" cy="594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30219" cy="59432"/>
            </a:xfrm>
            <a:custGeom>
              <a:avLst/>
              <a:gdLst/>
              <a:ahLst/>
              <a:cxnLst/>
              <a:rect l="l" t="t" r="r" b="b"/>
              <a:pathLst>
                <a:path w="4930219" h="59432">
                  <a:moveTo>
                    <a:pt x="0" y="0"/>
                  </a:moveTo>
                  <a:lnTo>
                    <a:pt x="4930219" y="0"/>
                  </a:lnTo>
                  <a:lnTo>
                    <a:pt x="4930219" y="59432"/>
                  </a:lnTo>
                  <a:lnTo>
                    <a:pt x="0" y="59432"/>
                  </a:lnTo>
                  <a:close/>
                </a:path>
              </a:pathLst>
            </a:custGeom>
            <a:solidFill>
              <a:srgbClr val="1B1B2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930219" cy="107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560320"/>
            </a:xfrm>
            <a:custGeom>
              <a:avLst/>
              <a:gdLst/>
              <a:ahLst/>
              <a:cxnLst/>
              <a:rect l="l" t="t" r="r" b="b"/>
              <a:pathLst>
                <a:path w="24383999" h="2560320">
                  <a:moveTo>
                    <a:pt x="0" y="0"/>
                  </a:moveTo>
                  <a:lnTo>
                    <a:pt x="24383999" y="0"/>
                  </a:lnTo>
                  <a:lnTo>
                    <a:pt x="2438399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594102"/>
            </a:xfrm>
            <a:custGeom>
              <a:avLst/>
              <a:gdLst/>
              <a:ahLst/>
              <a:cxnLst/>
              <a:rect l="l" t="t" r="r" b="b"/>
              <a:pathLst>
                <a:path w="24417782" h="25941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577211"/>
                  </a:lnTo>
                  <a:cubicBezTo>
                    <a:pt x="24417782" y="2586609"/>
                    <a:pt x="24410163" y="2594102"/>
                    <a:pt x="24400890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4400890" y="2560320"/>
                  </a:lnTo>
                  <a:lnTo>
                    <a:pt x="24400890" y="2577211"/>
                  </a:lnTo>
                  <a:lnTo>
                    <a:pt x="24384000" y="25772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14400" y="109728"/>
            <a:ext cx="5486400" cy="640080"/>
            <a:chOff x="0" y="0"/>
            <a:chExt cx="731520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15200" cy="853440"/>
            </a:xfrm>
            <a:custGeom>
              <a:avLst/>
              <a:gdLst/>
              <a:ahLst/>
              <a:cxnLst/>
              <a:rect l="l" t="t" r="r" b="b"/>
              <a:pathLst>
                <a:path w="7315200" h="85344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731520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600">
                  <a:solidFill>
                    <a:srgbClr val="00A89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HOW IT WORKS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768096"/>
            <a:ext cx="16459200" cy="1005840"/>
            <a:chOff x="0" y="0"/>
            <a:chExt cx="21945600" cy="134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846" b="-26884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94560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Six Pillars of Intelligent Care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9367" y="2273303"/>
            <a:ext cx="5694683" cy="3463547"/>
            <a:chOff x="0" y="0"/>
            <a:chExt cx="7592911" cy="4618063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559040" cy="4584192"/>
            </a:xfrm>
            <a:custGeom>
              <a:avLst/>
              <a:gdLst/>
              <a:ahLst/>
              <a:cxnLst/>
              <a:rect l="l" t="t" r="r" b="b"/>
              <a:pathLst>
                <a:path w="7559040" h="4584192">
                  <a:moveTo>
                    <a:pt x="0" y="0"/>
                  </a:moveTo>
                  <a:lnTo>
                    <a:pt x="7559040" y="0"/>
                  </a:lnTo>
                  <a:lnTo>
                    <a:pt x="755904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592822" cy="4617974"/>
            </a:xfrm>
            <a:custGeom>
              <a:avLst/>
              <a:gdLst/>
              <a:ahLst/>
              <a:cxnLst/>
              <a:rect l="l" t="t" r="r" b="b"/>
              <a:pathLst>
                <a:path w="7592822" h="4617974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601083"/>
                  </a:lnTo>
                  <a:cubicBezTo>
                    <a:pt x="7592822" y="4610481"/>
                    <a:pt x="7585202" y="4617974"/>
                    <a:pt x="757593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7575931" y="4584192"/>
                  </a:lnTo>
                  <a:lnTo>
                    <a:pt x="7575931" y="4601083"/>
                  </a:lnTo>
                  <a:lnTo>
                    <a:pt x="7559040" y="46010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28551" y="2675639"/>
            <a:ext cx="1122683" cy="1122683"/>
            <a:chOff x="0" y="0"/>
            <a:chExt cx="1496911" cy="149691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77824" y="2734056"/>
            <a:ext cx="1024128" cy="1024128"/>
            <a:chOff x="0" y="0"/>
            <a:chExt cx="1365504" cy="1365504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365504" cy="1365504"/>
            </a:xfrm>
            <a:custGeom>
              <a:avLst/>
              <a:gdLst/>
              <a:ahLst/>
              <a:cxnLst/>
              <a:rect l="l" t="t" r="r" b="b"/>
              <a:pathLst>
                <a:path w="1365504" h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2157984" y="2688336"/>
            <a:ext cx="3749040" cy="1005840"/>
            <a:chOff x="0" y="0"/>
            <a:chExt cx="4998720" cy="13411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98720" cy="1341120"/>
            </a:xfrm>
            <a:custGeom>
              <a:avLst/>
              <a:gdLst/>
              <a:ahLst/>
              <a:cxnLst/>
              <a:rect l="l" t="t" r="r" b="b"/>
              <a:pathLst>
                <a:path w="4998720" h="13411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49987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Command Center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41248" y="3931920"/>
            <a:ext cx="5010912" cy="1609344"/>
            <a:chOff x="0" y="0"/>
            <a:chExt cx="6681216" cy="21457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681216" cy="2145792"/>
            </a:xfrm>
            <a:custGeom>
              <a:avLst/>
              <a:gdLst/>
              <a:ahLst/>
              <a:cxnLst/>
              <a:rect l="l" t="t" r="r" b="b"/>
              <a:pathLst>
                <a:path w="6681216" h="2145792">
                  <a:moveTo>
                    <a:pt x="0" y="0"/>
                  </a:moveTo>
                  <a:lnTo>
                    <a:pt x="6681216" y="0"/>
                  </a:lnTo>
                  <a:lnTo>
                    <a:pt x="6681216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69" b="-10669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04775"/>
              <a:ext cx="6681216" cy="2250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Unified real-time view of all patients and beds across the entire hospital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424679" y="2273303"/>
            <a:ext cx="5694683" cy="3463547"/>
            <a:chOff x="0" y="0"/>
            <a:chExt cx="7592911" cy="4618063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7559040" cy="4584192"/>
            </a:xfrm>
            <a:custGeom>
              <a:avLst/>
              <a:gdLst/>
              <a:ahLst/>
              <a:cxnLst/>
              <a:rect l="l" t="t" r="r" b="b"/>
              <a:pathLst>
                <a:path w="7559040" h="4584192">
                  <a:moveTo>
                    <a:pt x="0" y="0"/>
                  </a:moveTo>
                  <a:lnTo>
                    <a:pt x="7559040" y="0"/>
                  </a:lnTo>
                  <a:lnTo>
                    <a:pt x="755904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7592822" cy="4617974"/>
            </a:xfrm>
            <a:custGeom>
              <a:avLst/>
              <a:gdLst/>
              <a:ahLst/>
              <a:cxnLst/>
              <a:rect l="l" t="t" r="r" b="b"/>
              <a:pathLst>
                <a:path w="7592822" h="4617974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601083"/>
                  </a:lnTo>
                  <a:cubicBezTo>
                    <a:pt x="7592822" y="4610481"/>
                    <a:pt x="7585202" y="4617974"/>
                    <a:pt x="757593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7575931" y="4584192"/>
                  </a:lnTo>
                  <a:lnTo>
                    <a:pt x="7575931" y="4601083"/>
                  </a:lnTo>
                  <a:lnTo>
                    <a:pt x="7559040" y="46010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6753863" y="2675639"/>
            <a:ext cx="1122683" cy="1122683"/>
            <a:chOff x="0" y="0"/>
            <a:chExt cx="1496911" cy="149691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803136" y="2734056"/>
            <a:ext cx="1024128" cy="1024128"/>
            <a:chOff x="0" y="0"/>
            <a:chExt cx="1365504" cy="1365504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1365504" cy="1365504"/>
            </a:xfrm>
            <a:custGeom>
              <a:avLst/>
              <a:gdLst/>
              <a:ahLst/>
              <a:cxnLst/>
              <a:rect l="l" t="t" r="r" b="b"/>
              <a:pathLst>
                <a:path w="1365504" h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8083296" y="2688336"/>
            <a:ext cx="3749040" cy="1005840"/>
            <a:chOff x="0" y="0"/>
            <a:chExt cx="4998720" cy="13411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998720" cy="1341120"/>
            </a:xfrm>
            <a:custGeom>
              <a:avLst/>
              <a:gdLst/>
              <a:ahLst/>
              <a:cxnLst/>
              <a:rect l="l" t="t" r="r" b="b"/>
              <a:pathLst>
                <a:path w="4998720" h="13411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49987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AI Clinical Notes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66560" y="3931920"/>
            <a:ext cx="5010912" cy="1609344"/>
            <a:chOff x="0" y="0"/>
            <a:chExt cx="6681216" cy="21457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681216" cy="2145792"/>
            </a:xfrm>
            <a:custGeom>
              <a:avLst/>
              <a:gdLst/>
              <a:ahLst/>
              <a:cxnLst/>
              <a:rect l="l" t="t" r="r" b="b"/>
              <a:pathLst>
                <a:path w="6681216" h="2145792">
                  <a:moveTo>
                    <a:pt x="0" y="0"/>
                  </a:moveTo>
                  <a:lnTo>
                    <a:pt x="6681216" y="0"/>
                  </a:lnTo>
                  <a:lnTo>
                    <a:pt x="6681216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69" b="-10669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04775"/>
              <a:ext cx="6681216" cy="2250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Auto-generated SOAP notes and discharge summaries ,saving hours every shift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349991" y="2273303"/>
            <a:ext cx="5694683" cy="3463547"/>
            <a:chOff x="0" y="0"/>
            <a:chExt cx="7592911" cy="4618063"/>
          </a:xfrm>
        </p:grpSpPr>
        <p:sp>
          <p:nvSpPr>
            <p:cNvPr id="40" name="Freeform 40"/>
            <p:cNvSpPr/>
            <p:nvPr/>
          </p:nvSpPr>
          <p:spPr>
            <a:xfrm>
              <a:off x="16891" y="16891"/>
              <a:ext cx="7559040" cy="4584192"/>
            </a:xfrm>
            <a:custGeom>
              <a:avLst/>
              <a:gdLst/>
              <a:ahLst/>
              <a:cxnLst/>
              <a:rect l="l" t="t" r="r" b="b"/>
              <a:pathLst>
                <a:path w="7559040" h="4584192">
                  <a:moveTo>
                    <a:pt x="0" y="0"/>
                  </a:moveTo>
                  <a:lnTo>
                    <a:pt x="7559040" y="0"/>
                  </a:lnTo>
                  <a:lnTo>
                    <a:pt x="755904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7592822" cy="4617974"/>
            </a:xfrm>
            <a:custGeom>
              <a:avLst/>
              <a:gdLst/>
              <a:ahLst/>
              <a:cxnLst/>
              <a:rect l="l" t="t" r="r" b="b"/>
              <a:pathLst>
                <a:path w="7592822" h="4617974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601083"/>
                  </a:lnTo>
                  <a:cubicBezTo>
                    <a:pt x="7592822" y="4610481"/>
                    <a:pt x="7585202" y="4617974"/>
                    <a:pt x="757593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7575931" y="4584192"/>
                  </a:lnTo>
                  <a:lnTo>
                    <a:pt x="7575931" y="4601083"/>
                  </a:lnTo>
                  <a:lnTo>
                    <a:pt x="7559040" y="46010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2679175" y="2675639"/>
            <a:ext cx="1122683" cy="1122683"/>
            <a:chOff x="0" y="0"/>
            <a:chExt cx="1496911" cy="1496911"/>
          </a:xfrm>
        </p:grpSpPr>
        <p:sp>
          <p:nvSpPr>
            <p:cNvPr id="43" name="Freeform 43"/>
            <p:cNvSpPr/>
            <p:nvPr/>
          </p:nvSpPr>
          <p:spPr>
            <a:xfrm>
              <a:off x="16891" y="16891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2728448" y="2734056"/>
            <a:ext cx="1024128" cy="1024128"/>
            <a:chOff x="0" y="0"/>
            <a:chExt cx="1365504" cy="1365504"/>
          </a:xfrm>
        </p:grpSpPr>
        <p:sp>
          <p:nvSpPr>
            <p:cNvPr id="46" name="Freeform 46" descr="preencoded.png"/>
            <p:cNvSpPr/>
            <p:nvPr/>
          </p:nvSpPr>
          <p:spPr>
            <a:xfrm>
              <a:off x="0" y="0"/>
              <a:ext cx="1365504" cy="1365504"/>
            </a:xfrm>
            <a:custGeom>
              <a:avLst/>
              <a:gdLst/>
              <a:ahLst/>
              <a:cxnLst/>
              <a:rect l="l" t="t" r="r" b="b"/>
              <a:pathLst>
                <a:path w="1365504" h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4008608" y="2688336"/>
            <a:ext cx="3749040" cy="1005840"/>
            <a:chOff x="0" y="0"/>
            <a:chExt cx="4998720" cy="13411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998720" cy="1341120"/>
            </a:xfrm>
            <a:custGeom>
              <a:avLst/>
              <a:gdLst/>
              <a:ahLst/>
              <a:cxnLst/>
              <a:rect l="l" t="t" r="r" b="b"/>
              <a:pathLst>
                <a:path w="4998720" h="13411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49987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Rx Safety Checker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691872" y="3931920"/>
            <a:ext cx="5010912" cy="1609344"/>
            <a:chOff x="0" y="0"/>
            <a:chExt cx="6681216" cy="21457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681216" cy="2145792"/>
            </a:xfrm>
            <a:custGeom>
              <a:avLst/>
              <a:gdLst/>
              <a:ahLst/>
              <a:cxnLst/>
              <a:rect l="l" t="t" r="r" b="b"/>
              <a:pathLst>
                <a:path w="6681216" h="2145792">
                  <a:moveTo>
                    <a:pt x="0" y="0"/>
                  </a:moveTo>
                  <a:lnTo>
                    <a:pt x="6681216" y="0"/>
                  </a:lnTo>
                  <a:lnTo>
                    <a:pt x="6681216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69" b="-10669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04775"/>
              <a:ext cx="6681216" cy="2250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Instant detection of dangerous drug interactions before they reach the patient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99367" y="6113783"/>
            <a:ext cx="5694683" cy="3463547"/>
            <a:chOff x="0" y="0"/>
            <a:chExt cx="7592911" cy="4618063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7559040" cy="4584192"/>
            </a:xfrm>
            <a:custGeom>
              <a:avLst/>
              <a:gdLst/>
              <a:ahLst/>
              <a:cxnLst/>
              <a:rect l="l" t="t" r="r" b="b"/>
              <a:pathLst>
                <a:path w="7559040" h="4584192">
                  <a:moveTo>
                    <a:pt x="0" y="0"/>
                  </a:moveTo>
                  <a:lnTo>
                    <a:pt x="7559040" y="0"/>
                  </a:lnTo>
                  <a:lnTo>
                    <a:pt x="755904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7592822" cy="4617974"/>
            </a:xfrm>
            <a:custGeom>
              <a:avLst/>
              <a:gdLst/>
              <a:ahLst/>
              <a:cxnLst/>
              <a:rect l="l" t="t" r="r" b="b"/>
              <a:pathLst>
                <a:path w="7592822" h="4617974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601083"/>
                  </a:lnTo>
                  <a:cubicBezTo>
                    <a:pt x="7592822" y="4610481"/>
                    <a:pt x="7585202" y="4617974"/>
                    <a:pt x="757593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7575931" y="4584192"/>
                  </a:lnTo>
                  <a:lnTo>
                    <a:pt x="7575931" y="4601083"/>
                  </a:lnTo>
                  <a:lnTo>
                    <a:pt x="7559040" y="46010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828551" y="6516119"/>
            <a:ext cx="1122683" cy="1122683"/>
            <a:chOff x="0" y="0"/>
            <a:chExt cx="1496911" cy="1496911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877824" y="6574536"/>
            <a:ext cx="1024128" cy="1024128"/>
            <a:chOff x="0" y="0"/>
            <a:chExt cx="1365504" cy="1365504"/>
          </a:xfrm>
        </p:grpSpPr>
        <p:sp>
          <p:nvSpPr>
            <p:cNvPr id="60" name="Freeform 60" descr="preencoded.png"/>
            <p:cNvSpPr/>
            <p:nvPr/>
          </p:nvSpPr>
          <p:spPr>
            <a:xfrm>
              <a:off x="0" y="0"/>
              <a:ext cx="1365504" cy="1365504"/>
            </a:xfrm>
            <a:custGeom>
              <a:avLst/>
              <a:gdLst/>
              <a:ahLst/>
              <a:cxnLst/>
              <a:rect l="l" t="t" r="r" b="b"/>
              <a:pathLst>
                <a:path w="1365504" h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2157984" y="6528816"/>
            <a:ext cx="3749040" cy="1005840"/>
            <a:chOff x="0" y="0"/>
            <a:chExt cx="4998720" cy="13411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998720" cy="1341120"/>
            </a:xfrm>
            <a:custGeom>
              <a:avLst/>
              <a:gdLst/>
              <a:ahLst/>
              <a:cxnLst/>
              <a:rect l="l" t="t" r="r" b="b"/>
              <a:pathLst>
                <a:path w="4998720" h="13411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49987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Smart Bed Monitoring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41248" y="7772400"/>
            <a:ext cx="5010912" cy="1609344"/>
            <a:chOff x="0" y="0"/>
            <a:chExt cx="6681216" cy="214579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681216" cy="2145792"/>
            </a:xfrm>
            <a:custGeom>
              <a:avLst/>
              <a:gdLst/>
              <a:ahLst/>
              <a:cxnLst/>
              <a:rect l="l" t="t" r="r" b="b"/>
              <a:pathLst>
                <a:path w="6681216" h="2145792">
                  <a:moveTo>
                    <a:pt x="0" y="0"/>
                  </a:moveTo>
                  <a:lnTo>
                    <a:pt x="6681216" y="0"/>
                  </a:lnTo>
                  <a:lnTo>
                    <a:pt x="6681216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69" b="-10669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104775"/>
              <a:ext cx="6681216" cy="2250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IoT-enabled movement and vitals alerts keeping patients safe around the clock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424679" y="6113783"/>
            <a:ext cx="5694683" cy="3463547"/>
            <a:chOff x="0" y="0"/>
            <a:chExt cx="7592911" cy="4618063"/>
          </a:xfrm>
        </p:grpSpPr>
        <p:sp>
          <p:nvSpPr>
            <p:cNvPr id="68" name="Freeform 68"/>
            <p:cNvSpPr/>
            <p:nvPr/>
          </p:nvSpPr>
          <p:spPr>
            <a:xfrm>
              <a:off x="16891" y="16891"/>
              <a:ext cx="7559040" cy="4584192"/>
            </a:xfrm>
            <a:custGeom>
              <a:avLst/>
              <a:gdLst/>
              <a:ahLst/>
              <a:cxnLst/>
              <a:rect l="l" t="t" r="r" b="b"/>
              <a:pathLst>
                <a:path w="7559040" h="4584192">
                  <a:moveTo>
                    <a:pt x="0" y="0"/>
                  </a:moveTo>
                  <a:lnTo>
                    <a:pt x="7559040" y="0"/>
                  </a:lnTo>
                  <a:lnTo>
                    <a:pt x="755904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0" y="0"/>
              <a:ext cx="7592822" cy="4617974"/>
            </a:xfrm>
            <a:custGeom>
              <a:avLst/>
              <a:gdLst/>
              <a:ahLst/>
              <a:cxnLst/>
              <a:rect l="l" t="t" r="r" b="b"/>
              <a:pathLst>
                <a:path w="7592822" h="4617974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601083"/>
                  </a:lnTo>
                  <a:cubicBezTo>
                    <a:pt x="7592822" y="4610481"/>
                    <a:pt x="7585202" y="4617974"/>
                    <a:pt x="757593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7575931" y="4584192"/>
                  </a:lnTo>
                  <a:lnTo>
                    <a:pt x="7575931" y="4601083"/>
                  </a:lnTo>
                  <a:lnTo>
                    <a:pt x="7559040" y="46010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6753863" y="6516119"/>
            <a:ext cx="1122683" cy="1122683"/>
            <a:chOff x="0" y="0"/>
            <a:chExt cx="1496911" cy="1496911"/>
          </a:xfrm>
        </p:grpSpPr>
        <p:sp>
          <p:nvSpPr>
            <p:cNvPr id="71" name="Freeform 71"/>
            <p:cNvSpPr/>
            <p:nvPr/>
          </p:nvSpPr>
          <p:spPr>
            <a:xfrm>
              <a:off x="16891" y="16891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72" name="Freeform 72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6803136" y="6574536"/>
            <a:ext cx="1024128" cy="1024128"/>
            <a:chOff x="0" y="0"/>
            <a:chExt cx="1365504" cy="1365504"/>
          </a:xfrm>
        </p:grpSpPr>
        <p:sp>
          <p:nvSpPr>
            <p:cNvPr id="74" name="Freeform 74" descr="preencoded.png"/>
            <p:cNvSpPr/>
            <p:nvPr/>
          </p:nvSpPr>
          <p:spPr>
            <a:xfrm>
              <a:off x="0" y="0"/>
              <a:ext cx="1365504" cy="1365504"/>
            </a:xfrm>
            <a:custGeom>
              <a:avLst/>
              <a:gdLst/>
              <a:ahLst/>
              <a:cxnLst/>
              <a:rect l="l" t="t" r="r" b="b"/>
              <a:pathLst>
                <a:path w="1365504" h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8083296" y="6528816"/>
            <a:ext cx="3749040" cy="1005840"/>
            <a:chOff x="0" y="0"/>
            <a:chExt cx="4998720" cy="134112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998720" cy="1341120"/>
            </a:xfrm>
            <a:custGeom>
              <a:avLst/>
              <a:gdLst/>
              <a:ahLst/>
              <a:cxnLst/>
              <a:rect l="l" t="t" r="r" b="b"/>
              <a:pathLst>
                <a:path w="4998720" h="13411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9525"/>
              <a:ext cx="49987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Sample Tracking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766560" y="7772400"/>
            <a:ext cx="5010912" cy="1609344"/>
            <a:chOff x="0" y="0"/>
            <a:chExt cx="6681216" cy="2145792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681216" cy="2145792"/>
            </a:xfrm>
            <a:custGeom>
              <a:avLst/>
              <a:gdLst/>
              <a:ahLst/>
              <a:cxnLst/>
              <a:rect l="l" t="t" r="r" b="b"/>
              <a:pathLst>
                <a:path w="6681216" h="2145792">
                  <a:moveTo>
                    <a:pt x="0" y="0"/>
                  </a:moveTo>
                  <a:lnTo>
                    <a:pt x="6681216" y="0"/>
                  </a:lnTo>
                  <a:lnTo>
                    <a:pt x="6681216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69" b="-10669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104775"/>
              <a:ext cx="6681216" cy="2250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lab workflow from collection to result, no more lost samples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349991" y="6113783"/>
            <a:ext cx="5694683" cy="3463547"/>
            <a:chOff x="0" y="0"/>
            <a:chExt cx="7592911" cy="4618063"/>
          </a:xfrm>
        </p:grpSpPr>
        <p:sp>
          <p:nvSpPr>
            <p:cNvPr id="82" name="Freeform 82"/>
            <p:cNvSpPr/>
            <p:nvPr/>
          </p:nvSpPr>
          <p:spPr>
            <a:xfrm>
              <a:off x="16891" y="16891"/>
              <a:ext cx="7559040" cy="4584192"/>
            </a:xfrm>
            <a:custGeom>
              <a:avLst/>
              <a:gdLst/>
              <a:ahLst/>
              <a:cxnLst/>
              <a:rect l="l" t="t" r="r" b="b"/>
              <a:pathLst>
                <a:path w="7559040" h="4584192">
                  <a:moveTo>
                    <a:pt x="0" y="0"/>
                  </a:moveTo>
                  <a:lnTo>
                    <a:pt x="7559040" y="0"/>
                  </a:lnTo>
                  <a:lnTo>
                    <a:pt x="755904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0" y="0"/>
              <a:ext cx="7592822" cy="4617974"/>
            </a:xfrm>
            <a:custGeom>
              <a:avLst/>
              <a:gdLst/>
              <a:ahLst/>
              <a:cxnLst/>
              <a:rect l="l" t="t" r="r" b="b"/>
              <a:pathLst>
                <a:path w="7592822" h="4617974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601083"/>
                  </a:lnTo>
                  <a:cubicBezTo>
                    <a:pt x="7592822" y="4610481"/>
                    <a:pt x="7585202" y="4617974"/>
                    <a:pt x="757593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7575931" y="4584192"/>
                  </a:lnTo>
                  <a:lnTo>
                    <a:pt x="7575931" y="4601083"/>
                  </a:lnTo>
                  <a:lnTo>
                    <a:pt x="7559040" y="46010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E8EC"/>
            </a:solidFill>
          </p:spPr>
        </p:sp>
      </p:grpSp>
      <p:grpSp>
        <p:nvGrpSpPr>
          <p:cNvPr id="84" name="Group 84"/>
          <p:cNvGrpSpPr/>
          <p:nvPr/>
        </p:nvGrpSpPr>
        <p:grpSpPr>
          <a:xfrm>
            <a:off x="12679175" y="6516119"/>
            <a:ext cx="1122683" cy="1122683"/>
            <a:chOff x="0" y="0"/>
            <a:chExt cx="1496911" cy="1496911"/>
          </a:xfrm>
        </p:grpSpPr>
        <p:sp>
          <p:nvSpPr>
            <p:cNvPr id="85" name="Freeform 85"/>
            <p:cNvSpPr/>
            <p:nvPr/>
          </p:nvSpPr>
          <p:spPr>
            <a:xfrm>
              <a:off x="16891" y="16891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0" y="0"/>
              <a:ext cx="1496822" cy="1496822"/>
            </a:xfrm>
            <a:custGeom>
              <a:avLst/>
              <a:gdLst/>
              <a:ahLst/>
              <a:cxnLst/>
              <a:rect l="l" t="t" r="r" b="b"/>
              <a:pathLst>
                <a:path w="1496822" h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12728448" y="6574536"/>
            <a:ext cx="1024128" cy="1024128"/>
            <a:chOff x="0" y="0"/>
            <a:chExt cx="1365504" cy="1365504"/>
          </a:xfrm>
        </p:grpSpPr>
        <p:sp>
          <p:nvSpPr>
            <p:cNvPr id="88" name="Freeform 88" descr="preencoded.png"/>
            <p:cNvSpPr/>
            <p:nvPr/>
          </p:nvSpPr>
          <p:spPr>
            <a:xfrm>
              <a:off x="0" y="0"/>
              <a:ext cx="1365504" cy="1365504"/>
            </a:xfrm>
            <a:custGeom>
              <a:avLst/>
              <a:gdLst/>
              <a:ahLst/>
              <a:cxnLst/>
              <a:rect l="l" t="t" r="r" b="b"/>
              <a:pathLst>
                <a:path w="1365504" h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89" name="Group 89"/>
          <p:cNvGrpSpPr/>
          <p:nvPr/>
        </p:nvGrpSpPr>
        <p:grpSpPr>
          <a:xfrm>
            <a:off x="14008608" y="6528816"/>
            <a:ext cx="3749040" cy="1005840"/>
            <a:chOff x="0" y="0"/>
            <a:chExt cx="4998720" cy="134112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4998720" cy="1341120"/>
            </a:xfrm>
            <a:custGeom>
              <a:avLst/>
              <a:gdLst/>
              <a:ahLst/>
              <a:cxnLst/>
              <a:rect l="l" t="t" r="r" b="b"/>
              <a:pathLst>
                <a:path w="4998720" h="13411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9525"/>
              <a:ext cx="49987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Ambulance Sync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691872" y="7772400"/>
            <a:ext cx="5010912" cy="1609344"/>
            <a:chOff x="0" y="0"/>
            <a:chExt cx="6681216" cy="214579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681216" cy="2145792"/>
            </a:xfrm>
            <a:custGeom>
              <a:avLst/>
              <a:gdLst/>
              <a:ahLst/>
              <a:cxnLst/>
              <a:rect l="l" t="t" r="r" b="b"/>
              <a:pathLst>
                <a:path w="6681216" h="2145792">
                  <a:moveTo>
                    <a:pt x="0" y="0"/>
                  </a:moveTo>
                  <a:lnTo>
                    <a:pt x="6681216" y="0"/>
                  </a:lnTo>
                  <a:lnTo>
                    <a:pt x="6681216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69" b="-10669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104775"/>
              <a:ext cx="6681216" cy="2250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 + live ECG streaming to the hospital before the patient even arrives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499367" y="2279005"/>
            <a:ext cx="5694683" cy="158510"/>
            <a:chOff x="0" y="0"/>
            <a:chExt cx="7349071" cy="204559"/>
          </a:xfrm>
        </p:grpSpPr>
        <p:sp>
          <p:nvSpPr>
            <p:cNvPr id="96" name="Freeform 96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97" name="Freeform 97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6424679" y="2279005"/>
            <a:ext cx="5694683" cy="158510"/>
            <a:chOff x="0" y="0"/>
            <a:chExt cx="7349071" cy="204559"/>
          </a:xfrm>
        </p:grpSpPr>
        <p:sp>
          <p:nvSpPr>
            <p:cNvPr id="99" name="Freeform 99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100" name="Freeform 100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12349991" y="2279005"/>
            <a:ext cx="5694683" cy="158510"/>
            <a:chOff x="0" y="0"/>
            <a:chExt cx="7349071" cy="204559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499367" y="6119485"/>
            <a:ext cx="5694683" cy="158510"/>
            <a:chOff x="0" y="0"/>
            <a:chExt cx="7349071" cy="204559"/>
          </a:xfrm>
        </p:grpSpPr>
        <p:sp>
          <p:nvSpPr>
            <p:cNvPr id="105" name="Freeform 105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106" name="Freeform 106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6424679" y="6114394"/>
            <a:ext cx="5694683" cy="158510"/>
            <a:chOff x="0" y="0"/>
            <a:chExt cx="7349071" cy="204559"/>
          </a:xfrm>
        </p:grpSpPr>
        <p:sp>
          <p:nvSpPr>
            <p:cNvPr id="108" name="Freeform 108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109" name="Freeform 109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110" name="Group 110"/>
          <p:cNvGrpSpPr/>
          <p:nvPr/>
        </p:nvGrpSpPr>
        <p:grpSpPr>
          <a:xfrm>
            <a:off x="12349991" y="6119485"/>
            <a:ext cx="5694683" cy="158510"/>
            <a:chOff x="0" y="0"/>
            <a:chExt cx="7349071" cy="204559"/>
          </a:xfrm>
        </p:grpSpPr>
        <p:sp>
          <p:nvSpPr>
            <p:cNvPr id="111" name="Freeform 111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112" name="Freeform 112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113" name="Group 113"/>
          <p:cNvGrpSpPr/>
          <p:nvPr/>
        </p:nvGrpSpPr>
        <p:grpSpPr>
          <a:xfrm>
            <a:off x="0" y="9954263"/>
            <a:ext cx="18287970" cy="320348"/>
            <a:chOff x="0" y="0"/>
            <a:chExt cx="4930219" cy="59432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4930219" cy="59432"/>
            </a:xfrm>
            <a:custGeom>
              <a:avLst/>
              <a:gdLst/>
              <a:ahLst/>
              <a:cxnLst/>
              <a:rect l="l" t="t" r="r" b="b"/>
              <a:pathLst>
                <a:path w="4930219" h="59432">
                  <a:moveTo>
                    <a:pt x="0" y="0"/>
                  </a:moveTo>
                  <a:lnTo>
                    <a:pt x="4930219" y="0"/>
                  </a:lnTo>
                  <a:lnTo>
                    <a:pt x="4930219" y="59432"/>
                  </a:lnTo>
                  <a:lnTo>
                    <a:pt x="0" y="59432"/>
                  </a:lnTo>
                  <a:close/>
                </a:path>
              </a:pathLst>
            </a:custGeom>
            <a:solidFill>
              <a:srgbClr val="1B1B27"/>
            </a:solidFill>
          </p:spPr>
        </p:sp>
        <p:sp>
          <p:nvSpPr>
            <p:cNvPr id="115" name="TextBox 115"/>
            <p:cNvSpPr txBox="1"/>
            <p:nvPr/>
          </p:nvSpPr>
          <p:spPr>
            <a:xfrm>
              <a:off x="0" y="-47625"/>
              <a:ext cx="4930219" cy="107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61292"/>
            <a:ext cx="18288000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0" y="10081393"/>
            <a:ext cx="18275282" cy="193218"/>
            <a:chOff x="0" y="0"/>
            <a:chExt cx="4930219" cy="59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30219" cy="59432"/>
            </a:xfrm>
            <a:custGeom>
              <a:avLst/>
              <a:gdLst/>
              <a:ahLst/>
              <a:cxnLst/>
              <a:rect l="l" t="t" r="r" b="b"/>
              <a:pathLst>
                <a:path w="4930219" h="59432">
                  <a:moveTo>
                    <a:pt x="0" y="0"/>
                  </a:moveTo>
                  <a:lnTo>
                    <a:pt x="4930219" y="0"/>
                  </a:lnTo>
                  <a:lnTo>
                    <a:pt x="4930219" y="59432"/>
                  </a:lnTo>
                  <a:lnTo>
                    <a:pt x="0" y="59432"/>
                  </a:lnTo>
                  <a:close/>
                </a:path>
              </a:pathLst>
            </a:custGeom>
            <a:solidFill>
              <a:srgbClr val="1B1B2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30219" cy="107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  <p:pic>
        <p:nvPicPr>
          <p:cNvPr id="8" name="Picture 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9924" r="16593" b="3301"/>
          <a:stretch>
            <a:fillRect/>
          </a:stretch>
        </p:blipFill>
        <p:spPr>
          <a:xfrm>
            <a:off x="2286000" y="1895876"/>
            <a:ext cx="13931957" cy="8153081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39466" y="205607"/>
            <a:ext cx="1928812" cy="3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9488"/>
                </a:solidFill>
                <a:latin typeface="Inter Bold"/>
                <a:ea typeface="Inter Bold"/>
                <a:cs typeface="Inter Bold"/>
                <a:sym typeface="Inter Bold"/>
              </a:rPr>
              <a:t>LIVE DEMO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92098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143000" y="4234682"/>
            <a:ext cx="16002000" cy="57150"/>
            <a:chOff x="0" y="0"/>
            <a:chExt cx="21336000" cy="76200"/>
          </a:xfrm>
        </p:grpSpPr>
        <p:sp>
          <p:nvSpPr>
            <p:cNvPr id="6" name="Freeform 6" descr="image.png"/>
            <p:cNvSpPr/>
            <p:nvPr/>
          </p:nvSpPr>
          <p:spPr>
            <a:xfrm>
              <a:off x="0" y="0"/>
              <a:ext cx="21336000" cy="76200"/>
            </a:xfrm>
            <a:custGeom>
              <a:avLst/>
              <a:gdLst/>
              <a:ahLst/>
              <a:cxnLst/>
              <a:rect l="l" t="t" r="r" b="b"/>
              <a:pathLst>
                <a:path w="21336000" h="76200">
                  <a:moveTo>
                    <a:pt x="0" y="0"/>
                  </a:moveTo>
                  <a:lnTo>
                    <a:pt x="21336000" y="0"/>
                  </a:lnTo>
                  <a:lnTo>
                    <a:pt x="21336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00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235994" y="3448869"/>
            <a:ext cx="1814512" cy="500062"/>
            <a:chOff x="0" y="0"/>
            <a:chExt cx="2419350" cy="666750"/>
          </a:xfrm>
        </p:grpSpPr>
        <p:sp>
          <p:nvSpPr>
            <p:cNvPr id="8" name="Freeform 8" descr="image.png"/>
            <p:cNvSpPr/>
            <p:nvPr/>
          </p:nvSpPr>
          <p:spPr>
            <a:xfrm>
              <a:off x="0" y="0"/>
              <a:ext cx="2419350" cy="666750"/>
            </a:xfrm>
            <a:custGeom>
              <a:avLst/>
              <a:gdLst/>
              <a:ahLst/>
              <a:cxnLst/>
              <a:rect l="l" t="t" r="r" b="b"/>
              <a:pathLst>
                <a:path w="2419350" h="666750">
                  <a:moveTo>
                    <a:pt x="0" y="0"/>
                  </a:moveTo>
                  <a:lnTo>
                    <a:pt x="2419350" y="0"/>
                  </a:lnTo>
                  <a:lnTo>
                    <a:pt x="241935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05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079331" y="3448869"/>
            <a:ext cx="2128838" cy="500062"/>
            <a:chOff x="0" y="0"/>
            <a:chExt cx="2838450" cy="666750"/>
          </a:xfrm>
        </p:grpSpPr>
        <p:sp>
          <p:nvSpPr>
            <p:cNvPr id="10" name="Freeform 10" descr="image.png"/>
            <p:cNvSpPr/>
            <p:nvPr/>
          </p:nvSpPr>
          <p:spPr>
            <a:xfrm>
              <a:off x="0" y="0"/>
              <a:ext cx="2838450" cy="666750"/>
            </a:xfrm>
            <a:custGeom>
              <a:avLst/>
              <a:gdLst/>
              <a:ahLst/>
              <a:cxnLst/>
              <a:rect l="l" t="t" r="r" b="b"/>
              <a:pathLst>
                <a:path w="2838450" h="666750">
                  <a:moveTo>
                    <a:pt x="0" y="0"/>
                  </a:moveTo>
                  <a:lnTo>
                    <a:pt x="2838450" y="0"/>
                  </a:lnTo>
                  <a:lnTo>
                    <a:pt x="283845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17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029825" y="3448869"/>
            <a:ext cx="2228850" cy="500062"/>
            <a:chOff x="0" y="0"/>
            <a:chExt cx="2971800" cy="666750"/>
          </a:xfrm>
        </p:grpSpPr>
        <p:sp>
          <p:nvSpPr>
            <p:cNvPr id="12" name="Freeform 12" descr="image.png"/>
            <p:cNvSpPr/>
            <p:nvPr/>
          </p:nvSpPr>
          <p:spPr>
            <a:xfrm>
              <a:off x="0" y="0"/>
              <a:ext cx="2971800" cy="666750"/>
            </a:xfrm>
            <a:custGeom>
              <a:avLst/>
              <a:gdLst/>
              <a:ahLst/>
              <a:cxnLst/>
              <a:rect l="l" t="t" r="r" b="b"/>
              <a:pathLst>
                <a:path w="2971800" h="666750">
                  <a:moveTo>
                    <a:pt x="0" y="0"/>
                  </a:moveTo>
                  <a:lnTo>
                    <a:pt x="2971800" y="0"/>
                  </a:lnTo>
                  <a:lnTo>
                    <a:pt x="297180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85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4208919" y="3448869"/>
            <a:ext cx="1871662" cy="500062"/>
            <a:chOff x="0" y="0"/>
            <a:chExt cx="2495550" cy="66675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2495550" cy="666750"/>
            </a:xfrm>
            <a:custGeom>
              <a:avLst/>
              <a:gdLst/>
              <a:ahLst/>
              <a:cxnLst/>
              <a:rect l="l" t="t" r="r" b="b"/>
              <a:pathLst>
                <a:path w="2495550" h="666750">
                  <a:moveTo>
                    <a:pt x="0" y="0"/>
                  </a:moveTo>
                  <a:lnTo>
                    <a:pt x="2495550" y="0"/>
                  </a:lnTo>
                  <a:lnTo>
                    <a:pt x="249555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207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196703" y="6034907"/>
            <a:ext cx="1571625" cy="1571625"/>
            <a:chOff x="0" y="0"/>
            <a:chExt cx="2095500" cy="209550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2095500"/>
                  </a:lnTo>
                  <a:lnTo>
                    <a:pt x="0" y="209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6304359" y="6034907"/>
            <a:ext cx="1571625" cy="1571625"/>
            <a:chOff x="0" y="0"/>
            <a:chExt cx="2095500" cy="20955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2095500"/>
                  </a:lnTo>
                  <a:lnTo>
                    <a:pt x="0" y="209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0412016" y="6034907"/>
            <a:ext cx="1571625" cy="1571625"/>
            <a:chOff x="0" y="0"/>
            <a:chExt cx="2095500" cy="209550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2095500"/>
                  </a:lnTo>
                  <a:lnTo>
                    <a:pt x="0" y="209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4519672" y="6034907"/>
            <a:ext cx="1571625" cy="1571625"/>
            <a:chOff x="0" y="0"/>
            <a:chExt cx="2095500" cy="20955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2095500"/>
                  </a:lnTo>
                  <a:lnTo>
                    <a:pt x="0" y="209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2596753" y="6477819"/>
            <a:ext cx="771525" cy="685800"/>
            <a:chOff x="0" y="0"/>
            <a:chExt cx="1028700" cy="9144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1028700" cy="914400"/>
            </a:xfrm>
            <a:custGeom>
              <a:avLst/>
              <a:gdLst/>
              <a:ahLst/>
              <a:cxnLst/>
              <a:rect l="l" t="t" r="r" b="b"/>
              <a:pathLst>
                <a:path w="1028700" h="914400">
                  <a:moveTo>
                    <a:pt x="0" y="0"/>
                  </a:moveTo>
                  <a:lnTo>
                    <a:pt x="1028700" y="0"/>
                  </a:lnTo>
                  <a:lnTo>
                    <a:pt x="10287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-227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0812066" y="6477819"/>
            <a:ext cx="771525" cy="685800"/>
            <a:chOff x="0" y="0"/>
            <a:chExt cx="1028700" cy="91440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1028700" cy="914400"/>
            </a:xfrm>
            <a:custGeom>
              <a:avLst/>
              <a:gdLst/>
              <a:ahLst/>
              <a:cxnLst/>
              <a:rect l="l" t="t" r="r" b="b"/>
              <a:pathLst>
                <a:path w="1028700" h="914400">
                  <a:moveTo>
                    <a:pt x="0" y="0"/>
                  </a:moveTo>
                  <a:lnTo>
                    <a:pt x="1028700" y="0"/>
                  </a:lnTo>
                  <a:lnTo>
                    <a:pt x="10287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227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4919722" y="6477819"/>
            <a:ext cx="771525" cy="685800"/>
            <a:chOff x="0" y="0"/>
            <a:chExt cx="1028700" cy="9144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1028700" cy="914400"/>
            </a:xfrm>
            <a:custGeom>
              <a:avLst/>
              <a:gdLst/>
              <a:ahLst/>
              <a:cxnLst/>
              <a:rect l="l" t="t" r="r" b="b"/>
              <a:pathLst>
                <a:path w="1028700" h="914400">
                  <a:moveTo>
                    <a:pt x="0" y="0"/>
                  </a:moveTo>
                  <a:lnTo>
                    <a:pt x="1028700" y="0"/>
                  </a:lnTo>
                  <a:lnTo>
                    <a:pt x="10287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227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114425" y="4091807"/>
            <a:ext cx="342900" cy="342900"/>
            <a:chOff x="0" y="0"/>
            <a:chExt cx="457200" cy="457200"/>
          </a:xfrm>
        </p:grpSpPr>
        <p:sp>
          <p:nvSpPr>
            <p:cNvPr id="30" name="Freeform 30"/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249682" y="0"/>
                    <a:pt x="266700" y="17018"/>
                    <a:pt x="266700" y="38100"/>
                  </a:cubicBezTo>
                  <a:lnTo>
                    <a:pt x="228600" y="38100"/>
                  </a:lnTo>
                  <a:lnTo>
                    <a:pt x="228600" y="0"/>
                  </a:lnTo>
                  <a:lnTo>
                    <a:pt x="228600" y="38100"/>
                  </a:lnTo>
                  <a:lnTo>
                    <a:pt x="228600" y="0"/>
                  </a:ln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243078"/>
                    <a:pt x="449072" y="256286"/>
                    <a:pt x="436118" y="262636"/>
                  </a:cubicBezTo>
                  <a:lnTo>
                    <a:pt x="419100" y="228600"/>
                  </a:lnTo>
                  <a:lnTo>
                    <a:pt x="457200" y="228600"/>
                  </a:lnTo>
                  <a:cubicBezTo>
                    <a:pt x="457200" y="354838"/>
                    <a:pt x="354838" y="457200"/>
                    <a:pt x="228600" y="457200"/>
                  </a:cubicBezTo>
                  <a:lnTo>
                    <a:pt x="228600" y="419100"/>
                  </a:lnTo>
                  <a:lnTo>
                    <a:pt x="228600" y="457200"/>
                  </a:lnTo>
                  <a:cubicBezTo>
                    <a:pt x="102362" y="457200"/>
                    <a:pt x="0" y="354838"/>
                    <a:pt x="0" y="228600"/>
                  </a:cubicBezTo>
                  <a:moveTo>
                    <a:pt x="76200" y="228600"/>
                  </a:moveTo>
                  <a:lnTo>
                    <a:pt x="38100" y="228600"/>
                  </a:lnTo>
                  <a:lnTo>
                    <a:pt x="76200" y="228600"/>
                  </a:lnTo>
                  <a:cubicBezTo>
                    <a:pt x="76200" y="312801"/>
                    <a:pt x="144399" y="381000"/>
                    <a:pt x="228600" y="381000"/>
                  </a:cubicBezTo>
                  <a:cubicBezTo>
                    <a:pt x="312801" y="381000"/>
                    <a:pt x="381000" y="312801"/>
                    <a:pt x="381000" y="228600"/>
                  </a:cubicBezTo>
                  <a:cubicBezTo>
                    <a:pt x="381000" y="214122"/>
                    <a:pt x="389128" y="200914"/>
                    <a:pt x="402082" y="194564"/>
                  </a:cubicBezTo>
                  <a:lnTo>
                    <a:pt x="419100" y="228600"/>
                  </a:lnTo>
                  <a:lnTo>
                    <a:pt x="381000" y="228600"/>
                  </a:lnTo>
                  <a:cubicBezTo>
                    <a:pt x="381000" y="144399"/>
                    <a:pt x="312801" y="76200"/>
                    <a:pt x="228600" y="76200"/>
                  </a:cubicBezTo>
                  <a:cubicBezTo>
                    <a:pt x="207518" y="76200"/>
                    <a:pt x="190500" y="59182"/>
                    <a:pt x="190500" y="38100"/>
                  </a:cubicBezTo>
                  <a:lnTo>
                    <a:pt x="228600" y="38100"/>
                  </a:lnTo>
                  <a:lnTo>
                    <a:pt x="228600" y="76200"/>
                  </a:lnTo>
                  <a:cubicBezTo>
                    <a:pt x="144399" y="76200"/>
                    <a:pt x="76200" y="144399"/>
                    <a:pt x="76200" y="22860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6353023" y="4091807"/>
            <a:ext cx="342900" cy="342900"/>
            <a:chOff x="0" y="0"/>
            <a:chExt cx="457200" cy="457200"/>
          </a:xfrm>
        </p:grpSpPr>
        <p:sp>
          <p:nvSpPr>
            <p:cNvPr id="33" name="Freeform 33"/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249682" y="0"/>
                    <a:pt x="266700" y="17018"/>
                    <a:pt x="266700" y="38100"/>
                  </a:cubicBezTo>
                  <a:lnTo>
                    <a:pt x="228600" y="38100"/>
                  </a:lnTo>
                  <a:lnTo>
                    <a:pt x="228600" y="0"/>
                  </a:lnTo>
                  <a:lnTo>
                    <a:pt x="228600" y="38100"/>
                  </a:lnTo>
                  <a:lnTo>
                    <a:pt x="228600" y="0"/>
                  </a:ln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243078"/>
                    <a:pt x="449072" y="256286"/>
                    <a:pt x="436118" y="262636"/>
                  </a:cubicBezTo>
                  <a:lnTo>
                    <a:pt x="419100" y="228600"/>
                  </a:lnTo>
                  <a:lnTo>
                    <a:pt x="457200" y="228600"/>
                  </a:lnTo>
                  <a:cubicBezTo>
                    <a:pt x="457200" y="354838"/>
                    <a:pt x="354838" y="457200"/>
                    <a:pt x="228600" y="457200"/>
                  </a:cubicBezTo>
                  <a:lnTo>
                    <a:pt x="228600" y="419100"/>
                  </a:lnTo>
                  <a:lnTo>
                    <a:pt x="228600" y="457200"/>
                  </a:lnTo>
                  <a:cubicBezTo>
                    <a:pt x="102362" y="457200"/>
                    <a:pt x="0" y="354838"/>
                    <a:pt x="0" y="228600"/>
                  </a:cubicBezTo>
                  <a:moveTo>
                    <a:pt x="76200" y="228600"/>
                  </a:moveTo>
                  <a:lnTo>
                    <a:pt x="38100" y="228600"/>
                  </a:lnTo>
                  <a:lnTo>
                    <a:pt x="76200" y="228600"/>
                  </a:lnTo>
                  <a:cubicBezTo>
                    <a:pt x="76200" y="312801"/>
                    <a:pt x="144399" y="381000"/>
                    <a:pt x="228600" y="381000"/>
                  </a:cubicBezTo>
                  <a:cubicBezTo>
                    <a:pt x="312801" y="381000"/>
                    <a:pt x="381000" y="312801"/>
                    <a:pt x="381000" y="228600"/>
                  </a:cubicBezTo>
                  <a:cubicBezTo>
                    <a:pt x="381000" y="214122"/>
                    <a:pt x="389128" y="200914"/>
                    <a:pt x="402082" y="194564"/>
                  </a:cubicBezTo>
                  <a:lnTo>
                    <a:pt x="419100" y="228600"/>
                  </a:lnTo>
                  <a:lnTo>
                    <a:pt x="381000" y="228600"/>
                  </a:lnTo>
                  <a:cubicBezTo>
                    <a:pt x="381000" y="144399"/>
                    <a:pt x="312801" y="76200"/>
                    <a:pt x="228600" y="76200"/>
                  </a:cubicBezTo>
                  <a:cubicBezTo>
                    <a:pt x="207518" y="76200"/>
                    <a:pt x="190500" y="59182"/>
                    <a:pt x="190500" y="38100"/>
                  </a:cubicBezTo>
                  <a:lnTo>
                    <a:pt x="228600" y="38100"/>
                  </a:lnTo>
                  <a:lnTo>
                    <a:pt x="228600" y="76200"/>
                  </a:lnTo>
                  <a:cubicBezTo>
                    <a:pt x="144399" y="76200"/>
                    <a:pt x="76200" y="144399"/>
                    <a:pt x="76200" y="22860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1591630" y="4091807"/>
            <a:ext cx="342900" cy="342900"/>
            <a:chOff x="0" y="0"/>
            <a:chExt cx="457200" cy="457200"/>
          </a:xfrm>
        </p:grpSpPr>
        <p:sp>
          <p:nvSpPr>
            <p:cNvPr id="36" name="Freeform 36"/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249682" y="0"/>
                    <a:pt x="266700" y="17018"/>
                    <a:pt x="266700" y="38100"/>
                  </a:cubicBezTo>
                  <a:lnTo>
                    <a:pt x="228600" y="38100"/>
                  </a:lnTo>
                  <a:lnTo>
                    <a:pt x="228600" y="0"/>
                  </a:lnTo>
                  <a:lnTo>
                    <a:pt x="228600" y="38100"/>
                  </a:lnTo>
                  <a:lnTo>
                    <a:pt x="228600" y="0"/>
                  </a:ln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243078"/>
                    <a:pt x="449072" y="256286"/>
                    <a:pt x="436118" y="262636"/>
                  </a:cubicBezTo>
                  <a:lnTo>
                    <a:pt x="419100" y="228600"/>
                  </a:lnTo>
                  <a:lnTo>
                    <a:pt x="457200" y="228600"/>
                  </a:lnTo>
                  <a:cubicBezTo>
                    <a:pt x="457200" y="354838"/>
                    <a:pt x="354838" y="457200"/>
                    <a:pt x="228600" y="457200"/>
                  </a:cubicBezTo>
                  <a:lnTo>
                    <a:pt x="228600" y="419100"/>
                  </a:lnTo>
                  <a:lnTo>
                    <a:pt x="228600" y="457200"/>
                  </a:lnTo>
                  <a:cubicBezTo>
                    <a:pt x="102362" y="457200"/>
                    <a:pt x="0" y="354838"/>
                    <a:pt x="0" y="228600"/>
                  </a:cubicBezTo>
                  <a:moveTo>
                    <a:pt x="76200" y="228600"/>
                  </a:moveTo>
                  <a:lnTo>
                    <a:pt x="38100" y="228600"/>
                  </a:lnTo>
                  <a:lnTo>
                    <a:pt x="76200" y="228600"/>
                  </a:lnTo>
                  <a:cubicBezTo>
                    <a:pt x="76200" y="312801"/>
                    <a:pt x="144399" y="381000"/>
                    <a:pt x="228600" y="381000"/>
                  </a:cubicBezTo>
                  <a:cubicBezTo>
                    <a:pt x="312801" y="381000"/>
                    <a:pt x="381000" y="312801"/>
                    <a:pt x="381000" y="228600"/>
                  </a:cubicBezTo>
                  <a:cubicBezTo>
                    <a:pt x="381000" y="214122"/>
                    <a:pt x="389128" y="200914"/>
                    <a:pt x="402082" y="194564"/>
                  </a:cubicBezTo>
                  <a:lnTo>
                    <a:pt x="419100" y="228600"/>
                  </a:lnTo>
                  <a:lnTo>
                    <a:pt x="381000" y="228600"/>
                  </a:lnTo>
                  <a:cubicBezTo>
                    <a:pt x="381000" y="144399"/>
                    <a:pt x="312801" y="76200"/>
                    <a:pt x="228600" y="76200"/>
                  </a:cubicBezTo>
                  <a:cubicBezTo>
                    <a:pt x="207518" y="76200"/>
                    <a:pt x="190500" y="59182"/>
                    <a:pt x="190500" y="38100"/>
                  </a:cubicBezTo>
                  <a:lnTo>
                    <a:pt x="228600" y="38100"/>
                  </a:lnTo>
                  <a:lnTo>
                    <a:pt x="228600" y="76200"/>
                  </a:lnTo>
                  <a:cubicBezTo>
                    <a:pt x="144399" y="76200"/>
                    <a:pt x="76200" y="144399"/>
                    <a:pt x="76200" y="22860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6830227" y="4091807"/>
            <a:ext cx="342900" cy="342900"/>
            <a:chOff x="0" y="0"/>
            <a:chExt cx="457200" cy="457200"/>
          </a:xfrm>
        </p:grpSpPr>
        <p:sp>
          <p:nvSpPr>
            <p:cNvPr id="39" name="Freeform 39"/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249682" y="0"/>
                    <a:pt x="266700" y="17018"/>
                    <a:pt x="266700" y="38100"/>
                  </a:cubicBezTo>
                  <a:lnTo>
                    <a:pt x="228600" y="38100"/>
                  </a:lnTo>
                  <a:lnTo>
                    <a:pt x="228600" y="0"/>
                  </a:lnTo>
                  <a:lnTo>
                    <a:pt x="228600" y="38100"/>
                  </a:lnTo>
                  <a:lnTo>
                    <a:pt x="228600" y="0"/>
                  </a:ln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243078"/>
                    <a:pt x="449072" y="256286"/>
                    <a:pt x="436118" y="262636"/>
                  </a:cubicBezTo>
                  <a:lnTo>
                    <a:pt x="419100" y="228600"/>
                  </a:lnTo>
                  <a:lnTo>
                    <a:pt x="457200" y="228600"/>
                  </a:lnTo>
                  <a:cubicBezTo>
                    <a:pt x="457200" y="354838"/>
                    <a:pt x="354838" y="457200"/>
                    <a:pt x="228600" y="457200"/>
                  </a:cubicBezTo>
                  <a:lnTo>
                    <a:pt x="228600" y="419100"/>
                  </a:lnTo>
                  <a:lnTo>
                    <a:pt x="228600" y="457200"/>
                  </a:lnTo>
                  <a:cubicBezTo>
                    <a:pt x="102362" y="457200"/>
                    <a:pt x="0" y="354838"/>
                    <a:pt x="0" y="228600"/>
                  </a:cubicBezTo>
                  <a:moveTo>
                    <a:pt x="76200" y="228600"/>
                  </a:moveTo>
                  <a:lnTo>
                    <a:pt x="38100" y="228600"/>
                  </a:lnTo>
                  <a:lnTo>
                    <a:pt x="76200" y="228600"/>
                  </a:lnTo>
                  <a:cubicBezTo>
                    <a:pt x="76200" y="312801"/>
                    <a:pt x="144399" y="381000"/>
                    <a:pt x="228600" y="381000"/>
                  </a:cubicBezTo>
                  <a:cubicBezTo>
                    <a:pt x="312801" y="381000"/>
                    <a:pt x="381000" y="312801"/>
                    <a:pt x="381000" y="228600"/>
                  </a:cubicBezTo>
                  <a:cubicBezTo>
                    <a:pt x="381000" y="214122"/>
                    <a:pt x="389128" y="200914"/>
                    <a:pt x="402082" y="194564"/>
                  </a:cubicBezTo>
                  <a:lnTo>
                    <a:pt x="419100" y="228600"/>
                  </a:lnTo>
                  <a:lnTo>
                    <a:pt x="381000" y="228600"/>
                  </a:lnTo>
                  <a:cubicBezTo>
                    <a:pt x="381000" y="144399"/>
                    <a:pt x="312801" y="76200"/>
                    <a:pt x="228600" y="76200"/>
                  </a:cubicBezTo>
                  <a:cubicBezTo>
                    <a:pt x="207518" y="76200"/>
                    <a:pt x="190500" y="59182"/>
                    <a:pt x="190500" y="38100"/>
                  </a:cubicBezTo>
                  <a:lnTo>
                    <a:pt x="228600" y="38100"/>
                  </a:lnTo>
                  <a:lnTo>
                    <a:pt x="228600" y="76200"/>
                  </a:lnTo>
                  <a:cubicBezTo>
                    <a:pt x="144399" y="76200"/>
                    <a:pt x="76200" y="144399"/>
                    <a:pt x="76200" y="22860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sp>
        <p:nvSpPr>
          <p:cNvPr id="41" name="Freeform 41"/>
          <p:cNvSpPr/>
          <p:nvPr/>
        </p:nvSpPr>
        <p:spPr>
          <a:xfrm>
            <a:off x="6650494" y="6463532"/>
            <a:ext cx="827821" cy="759526"/>
          </a:xfrm>
          <a:custGeom>
            <a:avLst/>
            <a:gdLst/>
            <a:ahLst/>
            <a:cxnLst/>
            <a:rect l="l" t="t" r="r" b="b"/>
            <a:pathLst>
              <a:path w="827821" h="759526">
                <a:moveTo>
                  <a:pt x="0" y="0"/>
                </a:moveTo>
                <a:lnTo>
                  <a:pt x="827822" y="0"/>
                </a:lnTo>
                <a:lnTo>
                  <a:pt x="827822" y="759526"/>
                </a:lnTo>
                <a:lnTo>
                  <a:pt x="0" y="759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2775347" y="5130032"/>
            <a:ext cx="414338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812369" y="8006582"/>
            <a:ext cx="2340292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Select Patient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68016" y="8582844"/>
            <a:ext cx="3429000" cy="738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168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Open dashboard, choose patient, view live vitals instantly.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847284" y="5130032"/>
            <a:ext cx="48577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040041" y="8006582"/>
            <a:ext cx="2100262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Trigger Alert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375672" y="8582844"/>
            <a:ext cx="3429000" cy="738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168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Activate clinical alert – AI risk score appears in real time.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947797" y="5130032"/>
            <a:ext cx="500062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982676" y="8006582"/>
            <a:ext cx="2430304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 Note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483328" y="8582844"/>
            <a:ext cx="3429000" cy="738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168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One click generates a complete AI-powered SOAP clinical note.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048309" y="5130032"/>
            <a:ext cx="51435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932808" y="8006582"/>
            <a:ext cx="2745343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Check Rx Safety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590984" y="8582844"/>
            <a:ext cx="3429000" cy="738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168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Scan prescription – dangerous interactions flagged immediately.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39466" y="205607"/>
            <a:ext cx="1928812" cy="3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D9488"/>
                </a:solidFill>
                <a:latin typeface="Inter Bold"/>
                <a:ea typeface="Inter Bold"/>
                <a:cs typeface="Inter Bold"/>
                <a:sym typeface="Inter Bold"/>
              </a:rPr>
              <a:t>LIVE DEMO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364682" y="331089"/>
            <a:ext cx="10341918" cy="11907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7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Let’s See It in Action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0" y="9955911"/>
            <a:ext cx="18313336" cy="318700"/>
            <a:chOff x="0" y="0"/>
            <a:chExt cx="4930219" cy="5943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930219" cy="59432"/>
            </a:xfrm>
            <a:custGeom>
              <a:avLst/>
              <a:gdLst/>
              <a:ahLst/>
              <a:cxnLst/>
              <a:rect l="l" t="t" r="r" b="b"/>
              <a:pathLst>
                <a:path w="4930219" h="59432">
                  <a:moveTo>
                    <a:pt x="0" y="0"/>
                  </a:moveTo>
                  <a:lnTo>
                    <a:pt x="4930219" y="0"/>
                  </a:lnTo>
                  <a:lnTo>
                    <a:pt x="4930219" y="59432"/>
                  </a:lnTo>
                  <a:lnTo>
                    <a:pt x="0" y="59432"/>
                  </a:lnTo>
                  <a:close/>
                </a:path>
              </a:pathLst>
            </a:custGeom>
            <a:solidFill>
              <a:srgbClr val="1B1B27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4930219" cy="107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406015"/>
            <a:chOff x="0" y="0"/>
            <a:chExt cx="24417871" cy="3208020"/>
          </a:xfrm>
        </p:grpSpPr>
        <p:sp>
          <p:nvSpPr>
            <p:cNvPr id="3" name="Freeform 3"/>
            <p:cNvSpPr/>
            <p:nvPr/>
          </p:nvSpPr>
          <p:spPr>
            <a:xfrm>
              <a:off x="16891" y="20888"/>
              <a:ext cx="24383999" cy="3166135"/>
            </a:xfrm>
            <a:custGeom>
              <a:avLst/>
              <a:gdLst/>
              <a:ahLst/>
              <a:cxnLst/>
              <a:rect l="l" t="t" r="r" b="b"/>
              <a:pathLst>
                <a:path w="24383999" h="3166135">
                  <a:moveTo>
                    <a:pt x="0" y="0"/>
                  </a:moveTo>
                  <a:lnTo>
                    <a:pt x="24383999" y="0"/>
                  </a:lnTo>
                  <a:lnTo>
                    <a:pt x="24383999" y="3166135"/>
                  </a:lnTo>
                  <a:lnTo>
                    <a:pt x="0" y="3166135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3207910"/>
            </a:xfrm>
            <a:custGeom>
              <a:avLst/>
              <a:gdLst/>
              <a:ahLst/>
              <a:cxnLst/>
              <a:rect l="l" t="t" r="r" b="b"/>
              <a:pathLst>
                <a:path w="24417782" h="320791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9423"/>
                    <a:pt x="24417782" y="20888"/>
                  </a:cubicBezTo>
                  <a:lnTo>
                    <a:pt x="24417782" y="3187023"/>
                  </a:lnTo>
                  <a:cubicBezTo>
                    <a:pt x="24417782" y="3198644"/>
                    <a:pt x="24410163" y="3207910"/>
                    <a:pt x="24400890" y="3207910"/>
                  </a:cubicBezTo>
                  <a:lnTo>
                    <a:pt x="16891" y="3207910"/>
                  </a:lnTo>
                  <a:cubicBezTo>
                    <a:pt x="7493" y="3207910"/>
                    <a:pt x="0" y="3198487"/>
                    <a:pt x="0" y="3187023"/>
                  </a:cubicBezTo>
                  <a:lnTo>
                    <a:pt x="0" y="20888"/>
                  </a:lnTo>
                  <a:cubicBezTo>
                    <a:pt x="0" y="9423"/>
                    <a:pt x="7620" y="0"/>
                    <a:pt x="16891" y="0"/>
                  </a:cubicBezTo>
                  <a:moveTo>
                    <a:pt x="16891" y="41932"/>
                  </a:moveTo>
                  <a:lnTo>
                    <a:pt x="16891" y="20888"/>
                  </a:lnTo>
                  <a:lnTo>
                    <a:pt x="33909" y="20888"/>
                  </a:lnTo>
                  <a:lnTo>
                    <a:pt x="33909" y="3187023"/>
                  </a:lnTo>
                  <a:lnTo>
                    <a:pt x="16891" y="3187023"/>
                  </a:lnTo>
                  <a:lnTo>
                    <a:pt x="16891" y="3166135"/>
                  </a:lnTo>
                  <a:lnTo>
                    <a:pt x="24400890" y="3166135"/>
                  </a:lnTo>
                  <a:lnTo>
                    <a:pt x="24400890" y="3187023"/>
                  </a:lnTo>
                  <a:lnTo>
                    <a:pt x="24384000" y="3187023"/>
                  </a:lnTo>
                  <a:lnTo>
                    <a:pt x="24384000" y="20888"/>
                  </a:lnTo>
                  <a:lnTo>
                    <a:pt x="24400890" y="20888"/>
                  </a:lnTo>
                  <a:lnTo>
                    <a:pt x="24400890" y="41932"/>
                  </a:lnTo>
                  <a:lnTo>
                    <a:pt x="16891" y="41932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14400" y="548640"/>
            <a:ext cx="10972800" cy="640080"/>
            <a:chOff x="0" y="0"/>
            <a:chExt cx="1463040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0400" cy="853440"/>
            </a:xfrm>
            <a:custGeom>
              <a:avLst/>
              <a:gdLst/>
              <a:ahLst/>
              <a:cxnLst/>
              <a:rect l="l" t="t" r="r" b="b"/>
              <a:pathLst>
                <a:path w="14630400" h="853440">
                  <a:moveTo>
                    <a:pt x="0" y="0"/>
                  </a:moveTo>
                  <a:lnTo>
                    <a:pt x="14630400" y="0"/>
                  </a:lnTo>
                  <a:lnTo>
                    <a:pt x="14630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9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463040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600">
                  <a:solidFill>
                    <a:srgbClr val="02C39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WHAT MAKES US DIFFERENT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1188720"/>
            <a:ext cx="16459200" cy="1280160"/>
            <a:chOff x="0" y="0"/>
            <a:chExt cx="21945600" cy="17068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Not Another Fragmented Tool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9367" y="2821943"/>
            <a:ext cx="5511803" cy="3225803"/>
            <a:chOff x="0" y="0"/>
            <a:chExt cx="7349071" cy="430107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315200" cy="4267200"/>
            </a:xfrm>
            <a:custGeom>
              <a:avLst/>
              <a:gdLst/>
              <a:ahLst/>
              <a:cxnLst/>
              <a:rect l="l" t="t" r="r" b="b"/>
              <a:pathLst>
                <a:path w="7315200" h="4267200">
                  <a:moveTo>
                    <a:pt x="0" y="0"/>
                  </a:moveTo>
                  <a:lnTo>
                    <a:pt x="7315200" y="0"/>
                  </a:lnTo>
                  <a:lnTo>
                    <a:pt x="73152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348982" cy="4300982"/>
            </a:xfrm>
            <a:custGeom>
              <a:avLst/>
              <a:gdLst/>
              <a:ahLst/>
              <a:cxnLst/>
              <a:rect l="l" t="t" r="r" b="b"/>
              <a:pathLst>
                <a:path w="7348982" h="4300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284091"/>
                  </a:lnTo>
                  <a:cubicBezTo>
                    <a:pt x="7348982" y="4293489"/>
                    <a:pt x="7341362" y="4300982"/>
                    <a:pt x="73320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332091" y="4267200"/>
                  </a:lnTo>
                  <a:lnTo>
                    <a:pt x="7332091" y="4284091"/>
                  </a:lnTo>
                  <a:lnTo>
                    <a:pt x="7315200" y="4284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A896">
                <a:alpha val="15686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499367" y="2821943"/>
            <a:ext cx="5511803" cy="153419"/>
            <a:chOff x="0" y="0"/>
            <a:chExt cx="7349071" cy="204559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28551" y="3187703"/>
            <a:ext cx="976379" cy="976379"/>
            <a:chOff x="0" y="0"/>
            <a:chExt cx="1301839" cy="1301839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877824" y="3236976"/>
            <a:ext cx="877824" cy="877824"/>
            <a:chOff x="0" y="0"/>
            <a:chExt cx="1170432" cy="1170432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2011680" y="3236976"/>
            <a:ext cx="3749040" cy="877824"/>
            <a:chOff x="0" y="0"/>
            <a:chExt cx="4998720" cy="117043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98720" cy="1170432"/>
            </a:xfrm>
            <a:custGeom>
              <a:avLst/>
              <a:gdLst/>
              <a:ahLst/>
              <a:cxnLst/>
              <a:rect l="l" t="t" r="r" b="b"/>
              <a:pathLst>
                <a:path w="4998720" h="1170432">
                  <a:moveTo>
                    <a:pt x="0" y="0"/>
                  </a:moveTo>
                  <a:lnTo>
                    <a:pt x="4998720" y="0"/>
                  </a:lnTo>
                  <a:lnTo>
                    <a:pt x="49987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17" b="-3321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99872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All-in-One Platform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41248" y="4334256"/>
            <a:ext cx="4828032" cy="1609344"/>
            <a:chOff x="0" y="0"/>
            <a:chExt cx="6437376" cy="21457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437376" cy="2145792"/>
            </a:xfrm>
            <a:custGeom>
              <a:avLst/>
              <a:gdLst/>
              <a:ahLst/>
              <a:cxnLst/>
              <a:rect l="l" t="t" r="r" b="b"/>
              <a:pathLst>
                <a:path w="6437376" h="2145792">
                  <a:moveTo>
                    <a:pt x="0" y="0"/>
                  </a:moveTo>
                  <a:lnTo>
                    <a:pt x="6437376" y="0"/>
                  </a:lnTo>
                  <a:lnTo>
                    <a:pt x="6437376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04775"/>
              <a:ext cx="6437376" cy="2250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0A23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Monitoring, AI, safety, and operations — unified in a single interface that works the way hospitals work.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388103" y="2821943"/>
            <a:ext cx="5511803" cy="3225803"/>
            <a:chOff x="0" y="0"/>
            <a:chExt cx="7349071" cy="430107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7315200" cy="4267200"/>
            </a:xfrm>
            <a:custGeom>
              <a:avLst/>
              <a:gdLst/>
              <a:ahLst/>
              <a:cxnLst/>
              <a:rect l="l" t="t" r="r" b="b"/>
              <a:pathLst>
                <a:path w="7315200" h="4267200">
                  <a:moveTo>
                    <a:pt x="0" y="0"/>
                  </a:moveTo>
                  <a:lnTo>
                    <a:pt x="7315200" y="0"/>
                  </a:lnTo>
                  <a:lnTo>
                    <a:pt x="73152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7348982" cy="4300982"/>
            </a:xfrm>
            <a:custGeom>
              <a:avLst/>
              <a:gdLst/>
              <a:ahLst/>
              <a:cxnLst/>
              <a:rect l="l" t="t" r="r" b="b"/>
              <a:pathLst>
                <a:path w="7348982" h="4300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284091"/>
                  </a:lnTo>
                  <a:cubicBezTo>
                    <a:pt x="7348982" y="4293489"/>
                    <a:pt x="7341362" y="4300982"/>
                    <a:pt x="73320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332091" y="4267200"/>
                  </a:lnTo>
                  <a:lnTo>
                    <a:pt x="7332091" y="4284091"/>
                  </a:lnTo>
                  <a:lnTo>
                    <a:pt x="7315200" y="4284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A896">
                <a:alpha val="15686"/>
              </a:srgbClr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388103" y="2821943"/>
            <a:ext cx="5511803" cy="153419"/>
            <a:chOff x="0" y="0"/>
            <a:chExt cx="7349071" cy="204559"/>
          </a:xfrm>
        </p:grpSpPr>
        <p:sp>
          <p:nvSpPr>
            <p:cNvPr id="32" name="Freeform 32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6717287" y="3187703"/>
            <a:ext cx="976379" cy="976379"/>
            <a:chOff x="0" y="0"/>
            <a:chExt cx="1301839" cy="1301839"/>
          </a:xfrm>
        </p:grpSpPr>
        <p:sp>
          <p:nvSpPr>
            <p:cNvPr id="35" name="Freeform 35"/>
            <p:cNvSpPr/>
            <p:nvPr/>
          </p:nvSpPr>
          <p:spPr>
            <a:xfrm>
              <a:off x="16891" y="16891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6766560" y="3236976"/>
            <a:ext cx="877824" cy="877824"/>
            <a:chOff x="0" y="0"/>
            <a:chExt cx="1170432" cy="1170432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7900416" y="3236976"/>
            <a:ext cx="3749040" cy="877824"/>
            <a:chOff x="0" y="0"/>
            <a:chExt cx="4998720" cy="117043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998720" cy="1170432"/>
            </a:xfrm>
            <a:custGeom>
              <a:avLst/>
              <a:gdLst/>
              <a:ahLst/>
              <a:cxnLst/>
              <a:rect l="l" t="t" r="r" b="b"/>
              <a:pathLst>
                <a:path w="4998720" h="1170432">
                  <a:moveTo>
                    <a:pt x="0" y="0"/>
                  </a:moveTo>
                  <a:lnTo>
                    <a:pt x="4998720" y="0"/>
                  </a:lnTo>
                  <a:lnTo>
                    <a:pt x="49987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17" b="-3321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499872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Real-Time + AI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29984" y="4334256"/>
            <a:ext cx="4828032" cy="1609344"/>
            <a:chOff x="0" y="0"/>
            <a:chExt cx="6437376" cy="21457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437376" cy="2145792"/>
            </a:xfrm>
            <a:custGeom>
              <a:avLst/>
              <a:gdLst/>
              <a:ahLst/>
              <a:cxnLst/>
              <a:rect l="l" t="t" r="r" b="b"/>
              <a:pathLst>
                <a:path w="6437376" h="2145792">
                  <a:moveTo>
                    <a:pt x="0" y="0"/>
                  </a:moveTo>
                  <a:lnTo>
                    <a:pt x="6437376" y="0"/>
                  </a:lnTo>
                  <a:lnTo>
                    <a:pt x="6437376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04775"/>
              <a:ext cx="6437376" cy="2250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0A23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data fused with intelligent clinical analysis — not historical snapshots, but decisions in the moment.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276839" y="2821943"/>
            <a:ext cx="5511803" cy="3225803"/>
            <a:chOff x="0" y="0"/>
            <a:chExt cx="7349071" cy="4301071"/>
          </a:xfrm>
        </p:grpSpPr>
        <p:sp>
          <p:nvSpPr>
            <p:cNvPr id="46" name="Freeform 46"/>
            <p:cNvSpPr/>
            <p:nvPr/>
          </p:nvSpPr>
          <p:spPr>
            <a:xfrm>
              <a:off x="16891" y="16891"/>
              <a:ext cx="7315200" cy="4267200"/>
            </a:xfrm>
            <a:custGeom>
              <a:avLst/>
              <a:gdLst/>
              <a:ahLst/>
              <a:cxnLst/>
              <a:rect l="l" t="t" r="r" b="b"/>
              <a:pathLst>
                <a:path w="7315200" h="4267200">
                  <a:moveTo>
                    <a:pt x="0" y="0"/>
                  </a:moveTo>
                  <a:lnTo>
                    <a:pt x="7315200" y="0"/>
                  </a:lnTo>
                  <a:lnTo>
                    <a:pt x="73152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0"/>
              <a:ext cx="7348982" cy="4300982"/>
            </a:xfrm>
            <a:custGeom>
              <a:avLst/>
              <a:gdLst/>
              <a:ahLst/>
              <a:cxnLst/>
              <a:rect l="l" t="t" r="r" b="b"/>
              <a:pathLst>
                <a:path w="7348982" h="4300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284091"/>
                  </a:lnTo>
                  <a:cubicBezTo>
                    <a:pt x="7348982" y="4293489"/>
                    <a:pt x="7341362" y="4300982"/>
                    <a:pt x="73320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332091" y="4267200"/>
                  </a:lnTo>
                  <a:lnTo>
                    <a:pt x="7332091" y="4284091"/>
                  </a:lnTo>
                  <a:lnTo>
                    <a:pt x="7315200" y="4284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A896">
                <a:alpha val="15686"/>
              </a:srgbClr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2606023" y="3187703"/>
            <a:ext cx="976379" cy="976379"/>
            <a:chOff x="0" y="0"/>
            <a:chExt cx="1301839" cy="1301839"/>
          </a:xfrm>
        </p:grpSpPr>
        <p:sp>
          <p:nvSpPr>
            <p:cNvPr id="49" name="Freeform 49"/>
            <p:cNvSpPr/>
            <p:nvPr/>
          </p:nvSpPr>
          <p:spPr>
            <a:xfrm>
              <a:off x="16891" y="16891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2655296" y="3236976"/>
            <a:ext cx="877824" cy="877824"/>
            <a:chOff x="0" y="0"/>
            <a:chExt cx="1170432" cy="1170432"/>
          </a:xfrm>
        </p:grpSpPr>
        <p:sp>
          <p:nvSpPr>
            <p:cNvPr id="52" name="Freeform 52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13789152" y="3236976"/>
            <a:ext cx="3749040" cy="877824"/>
            <a:chOff x="0" y="0"/>
            <a:chExt cx="4998720" cy="117043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998720" cy="1170432"/>
            </a:xfrm>
            <a:custGeom>
              <a:avLst/>
              <a:gdLst/>
              <a:ahLst/>
              <a:cxnLst/>
              <a:rect l="l" t="t" r="r" b="b"/>
              <a:pathLst>
                <a:path w="4998720" h="1170432">
                  <a:moveTo>
                    <a:pt x="0" y="0"/>
                  </a:moveTo>
                  <a:lnTo>
                    <a:pt x="4998720" y="0"/>
                  </a:lnTo>
                  <a:lnTo>
                    <a:pt x="49987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17" b="-33217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499872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Patient Safety First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618720" y="4334256"/>
            <a:ext cx="4828032" cy="1609344"/>
            <a:chOff x="0" y="0"/>
            <a:chExt cx="6437376" cy="214579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437376" cy="2145792"/>
            </a:xfrm>
            <a:custGeom>
              <a:avLst/>
              <a:gdLst/>
              <a:ahLst/>
              <a:cxnLst/>
              <a:rect l="l" t="t" r="r" b="b"/>
              <a:pathLst>
                <a:path w="6437376" h="2145792">
                  <a:moveTo>
                    <a:pt x="0" y="0"/>
                  </a:moveTo>
                  <a:lnTo>
                    <a:pt x="6437376" y="0"/>
                  </a:lnTo>
                  <a:lnTo>
                    <a:pt x="6437376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104775"/>
              <a:ext cx="6437376" cy="2250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0A23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Built-in safety layers woven into every workflow, not bolted on as an afterthought.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462023" y="6479543"/>
            <a:ext cx="5511803" cy="3225803"/>
            <a:chOff x="0" y="0"/>
            <a:chExt cx="7349071" cy="4301071"/>
          </a:xfrm>
        </p:grpSpPr>
        <p:sp>
          <p:nvSpPr>
            <p:cNvPr id="60" name="Freeform 60"/>
            <p:cNvSpPr/>
            <p:nvPr/>
          </p:nvSpPr>
          <p:spPr>
            <a:xfrm>
              <a:off x="16891" y="16891"/>
              <a:ext cx="7315200" cy="4267200"/>
            </a:xfrm>
            <a:custGeom>
              <a:avLst/>
              <a:gdLst/>
              <a:ahLst/>
              <a:cxnLst/>
              <a:rect l="l" t="t" r="r" b="b"/>
              <a:pathLst>
                <a:path w="7315200" h="4267200">
                  <a:moveTo>
                    <a:pt x="0" y="0"/>
                  </a:moveTo>
                  <a:lnTo>
                    <a:pt x="7315200" y="0"/>
                  </a:lnTo>
                  <a:lnTo>
                    <a:pt x="73152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0" y="0"/>
              <a:ext cx="7348982" cy="4300982"/>
            </a:xfrm>
            <a:custGeom>
              <a:avLst/>
              <a:gdLst/>
              <a:ahLst/>
              <a:cxnLst/>
              <a:rect l="l" t="t" r="r" b="b"/>
              <a:pathLst>
                <a:path w="7348982" h="4300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284091"/>
                  </a:lnTo>
                  <a:cubicBezTo>
                    <a:pt x="7348982" y="4293489"/>
                    <a:pt x="7341362" y="4300982"/>
                    <a:pt x="73320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332091" y="4267200"/>
                  </a:lnTo>
                  <a:lnTo>
                    <a:pt x="7332091" y="4284091"/>
                  </a:lnTo>
                  <a:lnTo>
                    <a:pt x="7315200" y="4284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A896">
                <a:alpha val="15686"/>
              </a:srgbClr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3791207" y="6845303"/>
            <a:ext cx="976379" cy="976379"/>
            <a:chOff x="0" y="0"/>
            <a:chExt cx="1301839" cy="1301839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3840480" y="6894576"/>
            <a:ext cx="877824" cy="877824"/>
            <a:chOff x="0" y="0"/>
            <a:chExt cx="1170432" cy="1170432"/>
          </a:xfrm>
        </p:grpSpPr>
        <p:sp>
          <p:nvSpPr>
            <p:cNvPr id="66" name="Freeform 66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4974336" y="6894576"/>
            <a:ext cx="3749040" cy="877824"/>
            <a:chOff x="0" y="0"/>
            <a:chExt cx="4998720" cy="117043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998720" cy="1170432"/>
            </a:xfrm>
            <a:custGeom>
              <a:avLst/>
              <a:gdLst/>
              <a:ahLst/>
              <a:cxnLst/>
              <a:rect l="l" t="t" r="r" b="b"/>
              <a:pathLst>
                <a:path w="4998720" h="1170432">
                  <a:moveTo>
                    <a:pt x="0" y="0"/>
                  </a:moveTo>
                  <a:lnTo>
                    <a:pt x="4998720" y="0"/>
                  </a:lnTo>
                  <a:lnTo>
                    <a:pt x="49987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17" b="-33217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9525"/>
              <a:ext cx="499872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Workflow-Native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803904" y="7991856"/>
            <a:ext cx="4828032" cy="1609344"/>
            <a:chOff x="0" y="0"/>
            <a:chExt cx="6437376" cy="214579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437376" cy="2145792"/>
            </a:xfrm>
            <a:custGeom>
              <a:avLst/>
              <a:gdLst/>
              <a:ahLst/>
              <a:cxnLst/>
              <a:rect l="l" t="t" r="r" b="b"/>
              <a:pathLst>
                <a:path w="6437376" h="2145792">
                  <a:moveTo>
                    <a:pt x="0" y="0"/>
                  </a:moveTo>
                  <a:lnTo>
                    <a:pt x="6437376" y="0"/>
                  </a:lnTo>
                  <a:lnTo>
                    <a:pt x="6437376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104775"/>
              <a:ext cx="6437376" cy="2250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0A23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Designed for actual hospital operations, not a theoretical ideal — it fits how clinicians actually work.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314183" y="6479543"/>
            <a:ext cx="5511803" cy="3225803"/>
            <a:chOff x="0" y="0"/>
            <a:chExt cx="7349071" cy="4301071"/>
          </a:xfrm>
        </p:grpSpPr>
        <p:sp>
          <p:nvSpPr>
            <p:cNvPr id="74" name="Freeform 74"/>
            <p:cNvSpPr/>
            <p:nvPr/>
          </p:nvSpPr>
          <p:spPr>
            <a:xfrm>
              <a:off x="16891" y="16891"/>
              <a:ext cx="7315200" cy="4267200"/>
            </a:xfrm>
            <a:custGeom>
              <a:avLst/>
              <a:gdLst/>
              <a:ahLst/>
              <a:cxnLst/>
              <a:rect l="l" t="t" r="r" b="b"/>
              <a:pathLst>
                <a:path w="7315200" h="4267200">
                  <a:moveTo>
                    <a:pt x="0" y="0"/>
                  </a:moveTo>
                  <a:lnTo>
                    <a:pt x="7315200" y="0"/>
                  </a:lnTo>
                  <a:lnTo>
                    <a:pt x="73152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5" name="Freeform 75"/>
            <p:cNvSpPr/>
            <p:nvPr/>
          </p:nvSpPr>
          <p:spPr>
            <a:xfrm>
              <a:off x="0" y="0"/>
              <a:ext cx="7348982" cy="4300982"/>
            </a:xfrm>
            <a:custGeom>
              <a:avLst/>
              <a:gdLst/>
              <a:ahLst/>
              <a:cxnLst/>
              <a:rect l="l" t="t" r="r" b="b"/>
              <a:pathLst>
                <a:path w="7348982" h="4300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284091"/>
                  </a:lnTo>
                  <a:cubicBezTo>
                    <a:pt x="7348982" y="4293489"/>
                    <a:pt x="7341362" y="4300982"/>
                    <a:pt x="73320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332091" y="4267200"/>
                  </a:lnTo>
                  <a:lnTo>
                    <a:pt x="7332091" y="4284091"/>
                  </a:lnTo>
                  <a:lnTo>
                    <a:pt x="7315200" y="4284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A896">
                <a:alpha val="15686"/>
              </a:srgbClr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9643367" y="6845303"/>
            <a:ext cx="976379" cy="976379"/>
            <a:chOff x="0" y="0"/>
            <a:chExt cx="1301839" cy="1301839"/>
          </a:xfrm>
        </p:grpSpPr>
        <p:sp>
          <p:nvSpPr>
            <p:cNvPr id="77" name="Freeform 77"/>
            <p:cNvSpPr/>
            <p:nvPr/>
          </p:nvSpPr>
          <p:spPr>
            <a:xfrm>
              <a:off x="16891" y="16891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78" name="Freeform 78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9692640" y="6894576"/>
            <a:ext cx="877824" cy="877824"/>
            <a:chOff x="0" y="0"/>
            <a:chExt cx="1170432" cy="1170432"/>
          </a:xfrm>
        </p:grpSpPr>
        <p:sp>
          <p:nvSpPr>
            <p:cNvPr id="80" name="Freeform 80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10826496" y="6894576"/>
            <a:ext cx="3749040" cy="877824"/>
            <a:chOff x="0" y="0"/>
            <a:chExt cx="4998720" cy="1170432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998720" cy="1170432"/>
            </a:xfrm>
            <a:custGeom>
              <a:avLst/>
              <a:gdLst/>
              <a:ahLst/>
              <a:cxnLst/>
              <a:rect l="l" t="t" r="r" b="b"/>
              <a:pathLst>
                <a:path w="4998720" h="1170432">
                  <a:moveTo>
                    <a:pt x="0" y="0"/>
                  </a:moveTo>
                  <a:lnTo>
                    <a:pt x="4998720" y="0"/>
                  </a:lnTo>
                  <a:lnTo>
                    <a:pt x="49987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17" b="-33217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9525"/>
              <a:ext cx="499872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A234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Universal Identity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656064" y="7991856"/>
            <a:ext cx="4828032" cy="1609344"/>
            <a:chOff x="0" y="0"/>
            <a:chExt cx="6437376" cy="214579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437376" cy="2145792"/>
            </a:xfrm>
            <a:custGeom>
              <a:avLst/>
              <a:gdLst/>
              <a:ahLst/>
              <a:cxnLst/>
              <a:rect l="l" t="t" r="r" b="b"/>
              <a:pathLst>
                <a:path w="6437376" h="2145792">
                  <a:moveTo>
                    <a:pt x="0" y="0"/>
                  </a:moveTo>
                  <a:lnTo>
                    <a:pt x="6437376" y="0"/>
                  </a:lnTo>
                  <a:lnTo>
                    <a:pt x="6437376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104775"/>
              <a:ext cx="6437376" cy="2250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0A23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Works seamlessly across institutions with shared patient records — continuity of care wherever it's needed.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2276834" y="2821943"/>
            <a:ext cx="5511803" cy="153419"/>
            <a:chOff x="0" y="0"/>
            <a:chExt cx="7349071" cy="204559"/>
          </a:xfrm>
        </p:grpSpPr>
        <p:sp>
          <p:nvSpPr>
            <p:cNvPr id="88" name="Freeform 88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89" name="Freeform 89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90" name="Group 90"/>
          <p:cNvGrpSpPr/>
          <p:nvPr/>
        </p:nvGrpSpPr>
        <p:grpSpPr>
          <a:xfrm>
            <a:off x="9314178" y="6479543"/>
            <a:ext cx="5511803" cy="153419"/>
            <a:chOff x="0" y="0"/>
            <a:chExt cx="7349071" cy="204559"/>
          </a:xfrm>
        </p:grpSpPr>
        <p:sp>
          <p:nvSpPr>
            <p:cNvPr id="91" name="Freeform 91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92" name="Freeform 92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93" name="Group 93"/>
          <p:cNvGrpSpPr/>
          <p:nvPr/>
        </p:nvGrpSpPr>
        <p:grpSpPr>
          <a:xfrm>
            <a:off x="3462018" y="6479543"/>
            <a:ext cx="5511803" cy="153419"/>
            <a:chOff x="0" y="0"/>
            <a:chExt cx="7349071" cy="204559"/>
          </a:xfrm>
        </p:grpSpPr>
        <p:sp>
          <p:nvSpPr>
            <p:cNvPr id="94" name="Freeform 94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95" name="Freeform 95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0" y="9947146"/>
            <a:ext cx="18313336" cy="327465"/>
            <a:chOff x="0" y="0"/>
            <a:chExt cx="4930219" cy="59432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930219" cy="59432"/>
            </a:xfrm>
            <a:custGeom>
              <a:avLst/>
              <a:gdLst/>
              <a:ahLst/>
              <a:cxnLst/>
              <a:rect l="l" t="t" r="r" b="b"/>
              <a:pathLst>
                <a:path w="4930219" h="59432">
                  <a:moveTo>
                    <a:pt x="0" y="0"/>
                  </a:moveTo>
                  <a:lnTo>
                    <a:pt x="4930219" y="0"/>
                  </a:lnTo>
                  <a:lnTo>
                    <a:pt x="4930219" y="59432"/>
                  </a:lnTo>
                  <a:lnTo>
                    <a:pt x="0" y="59432"/>
                  </a:lnTo>
                  <a:close/>
                </a:path>
              </a:pathLst>
            </a:custGeom>
            <a:solidFill>
              <a:srgbClr val="1B1B27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0" y="-47625"/>
              <a:ext cx="4930219" cy="107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688059"/>
            <a:chOff x="0" y="0"/>
            <a:chExt cx="24417871" cy="2250745"/>
          </a:xfrm>
        </p:grpSpPr>
        <p:sp>
          <p:nvSpPr>
            <p:cNvPr id="3" name="Freeform 3"/>
            <p:cNvSpPr/>
            <p:nvPr/>
          </p:nvSpPr>
          <p:spPr>
            <a:xfrm>
              <a:off x="16891" y="14655"/>
              <a:ext cx="24383999" cy="2221358"/>
            </a:xfrm>
            <a:custGeom>
              <a:avLst/>
              <a:gdLst/>
              <a:ahLst/>
              <a:cxnLst/>
              <a:rect l="l" t="t" r="r" b="b"/>
              <a:pathLst>
                <a:path w="24383999" h="2221358">
                  <a:moveTo>
                    <a:pt x="0" y="0"/>
                  </a:moveTo>
                  <a:lnTo>
                    <a:pt x="24383999" y="0"/>
                  </a:lnTo>
                  <a:lnTo>
                    <a:pt x="24383999" y="2221358"/>
                  </a:lnTo>
                  <a:lnTo>
                    <a:pt x="0" y="222135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250668"/>
            </a:xfrm>
            <a:custGeom>
              <a:avLst/>
              <a:gdLst/>
              <a:ahLst/>
              <a:cxnLst/>
              <a:rect l="l" t="t" r="r" b="b"/>
              <a:pathLst>
                <a:path w="24417782" h="225066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6611"/>
                    <a:pt x="24417782" y="14655"/>
                  </a:cubicBezTo>
                  <a:lnTo>
                    <a:pt x="24417782" y="2236013"/>
                  </a:lnTo>
                  <a:cubicBezTo>
                    <a:pt x="24417782" y="2244167"/>
                    <a:pt x="24410163" y="2250668"/>
                    <a:pt x="24400890" y="2250668"/>
                  </a:cubicBezTo>
                  <a:lnTo>
                    <a:pt x="16891" y="2250668"/>
                  </a:lnTo>
                  <a:cubicBezTo>
                    <a:pt x="7493" y="2250668"/>
                    <a:pt x="0" y="2244057"/>
                    <a:pt x="0" y="2236013"/>
                  </a:cubicBezTo>
                  <a:lnTo>
                    <a:pt x="0" y="14655"/>
                  </a:lnTo>
                  <a:cubicBezTo>
                    <a:pt x="0" y="6611"/>
                    <a:pt x="7620" y="0"/>
                    <a:pt x="16891" y="0"/>
                  </a:cubicBezTo>
                  <a:moveTo>
                    <a:pt x="16891" y="29420"/>
                  </a:moveTo>
                  <a:lnTo>
                    <a:pt x="16891" y="14655"/>
                  </a:lnTo>
                  <a:lnTo>
                    <a:pt x="33909" y="14655"/>
                  </a:lnTo>
                  <a:lnTo>
                    <a:pt x="33909" y="2236013"/>
                  </a:lnTo>
                  <a:lnTo>
                    <a:pt x="16891" y="2236013"/>
                  </a:lnTo>
                  <a:lnTo>
                    <a:pt x="16891" y="2221358"/>
                  </a:lnTo>
                  <a:lnTo>
                    <a:pt x="24400890" y="2221358"/>
                  </a:lnTo>
                  <a:lnTo>
                    <a:pt x="24400890" y="2236013"/>
                  </a:lnTo>
                  <a:lnTo>
                    <a:pt x="24384000" y="2236013"/>
                  </a:lnTo>
                  <a:lnTo>
                    <a:pt x="24384000" y="14655"/>
                  </a:lnTo>
                  <a:lnTo>
                    <a:pt x="24400890" y="14655"/>
                  </a:lnTo>
                  <a:lnTo>
                    <a:pt x="24400890" y="29420"/>
                  </a:lnTo>
                  <a:lnTo>
                    <a:pt x="16891" y="29420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5245259" y="2346157"/>
            <a:ext cx="9126055" cy="152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5"/>
              </a:lnSpc>
            </a:pPr>
            <a:r>
              <a:rPr lang="en-US" sz="4627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A Connected, Intelligent Healthcare Ecosystem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5055873" y="4015975"/>
            <a:ext cx="378771" cy="378771"/>
          </a:xfrm>
          <a:custGeom>
            <a:avLst/>
            <a:gdLst/>
            <a:ahLst/>
            <a:cxnLst/>
            <a:rect l="l" t="t" r="r" b="b"/>
            <a:pathLst>
              <a:path w="378771" h="378771">
                <a:moveTo>
                  <a:pt x="0" y="0"/>
                </a:moveTo>
                <a:lnTo>
                  <a:pt x="378771" y="0"/>
                </a:lnTo>
                <a:lnTo>
                  <a:pt x="378771" y="378771"/>
                </a:lnTo>
                <a:lnTo>
                  <a:pt x="0" y="378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48" r="-875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81707" y="3998639"/>
            <a:ext cx="3156499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Safer Hospitals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81707" y="4451820"/>
            <a:ext cx="8842029" cy="467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Dramatically reduce preventable medical errors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5055873" y="5377012"/>
            <a:ext cx="378771" cy="378771"/>
          </a:xfrm>
          <a:custGeom>
            <a:avLst/>
            <a:gdLst/>
            <a:ahLst/>
            <a:cxnLst/>
            <a:rect l="l" t="t" r="r" b="b"/>
            <a:pathLst>
              <a:path w="378771" h="378771">
                <a:moveTo>
                  <a:pt x="0" y="0"/>
                </a:moveTo>
                <a:lnTo>
                  <a:pt x="378771" y="0"/>
                </a:lnTo>
                <a:lnTo>
                  <a:pt x="378771" y="378771"/>
                </a:lnTo>
                <a:lnTo>
                  <a:pt x="0" y="378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48" r="-875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781707" y="5359667"/>
            <a:ext cx="3156499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Faster Decisions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81707" y="5812847"/>
            <a:ext cx="8842029" cy="467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AI-powered insights at the point of care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5055873" y="6738039"/>
            <a:ext cx="378771" cy="378771"/>
          </a:xfrm>
          <a:custGeom>
            <a:avLst/>
            <a:gdLst/>
            <a:ahLst/>
            <a:cxnLst/>
            <a:rect l="l" t="t" r="r" b="b"/>
            <a:pathLst>
              <a:path w="378771" h="378771">
                <a:moveTo>
                  <a:pt x="0" y="0"/>
                </a:moveTo>
                <a:lnTo>
                  <a:pt x="378771" y="0"/>
                </a:lnTo>
                <a:lnTo>
                  <a:pt x="378771" y="378771"/>
                </a:lnTo>
                <a:lnTo>
                  <a:pt x="0" y="378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48" r="-8751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781707" y="6720703"/>
            <a:ext cx="3156499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National Scale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81707" y="7173884"/>
            <a:ext cx="8842029" cy="467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Scalable architecture ready for system-wide deployment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39985" y="8061795"/>
            <a:ext cx="9283751" cy="34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 b="1" dirty="0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SmartWard360 is not just software , it's a life-saving system.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961214" y="7894507"/>
            <a:ext cx="28575" cy="887911"/>
            <a:chOff x="0" y="0"/>
            <a:chExt cx="38100" cy="118388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" cy="1183894"/>
            </a:xfrm>
            <a:custGeom>
              <a:avLst/>
              <a:gdLst/>
              <a:ahLst/>
              <a:cxnLst/>
              <a:rect l="l" t="t" r="r" b="b"/>
              <a:pathLst>
                <a:path w="38100" h="1183894">
                  <a:moveTo>
                    <a:pt x="0" y="0"/>
                  </a:moveTo>
                  <a:lnTo>
                    <a:pt x="38100" y="0"/>
                  </a:lnTo>
                  <a:lnTo>
                    <a:pt x="38100" y="1183894"/>
                  </a:lnTo>
                  <a:lnTo>
                    <a:pt x="0" y="1183894"/>
                  </a:ln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7229064" y="459222"/>
            <a:ext cx="3861495" cy="658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24"/>
              </a:lnSpc>
              <a:spcBef>
                <a:spcPct val="0"/>
              </a:spcBef>
            </a:pPr>
            <a:r>
              <a:rPr lang="en-US" sz="3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VISION &amp; CLOSE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0" y="9947516"/>
            <a:ext cx="18287970" cy="327095"/>
            <a:chOff x="0" y="0"/>
            <a:chExt cx="4930219" cy="5943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30219" cy="59432"/>
            </a:xfrm>
            <a:custGeom>
              <a:avLst/>
              <a:gdLst/>
              <a:ahLst/>
              <a:cxnLst/>
              <a:rect l="l" t="t" r="r" b="b"/>
              <a:pathLst>
                <a:path w="4930219" h="59432">
                  <a:moveTo>
                    <a:pt x="0" y="0"/>
                  </a:moveTo>
                  <a:lnTo>
                    <a:pt x="4930219" y="0"/>
                  </a:lnTo>
                  <a:lnTo>
                    <a:pt x="4930219" y="59432"/>
                  </a:lnTo>
                  <a:lnTo>
                    <a:pt x="0" y="59432"/>
                  </a:lnTo>
                  <a:close/>
                </a:path>
              </a:pathLst>
            </a:custGeom>
            <a:solidFill>
              <a:srgbClr val="1B1B27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4930219" cy="107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03020" y="4421008"/>
            <a:ext cx="586338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4" name="Freeform 4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10048957"/>
            <a:ext cx="18719426" cy="225654"/>
            <a:chOff x="0" y="0"/>
            <a:chExt cx="4930219" cy="594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30219" cy="59432"/>
            </a:xfrm>
            <a:custGeom>
              <a:avLst/>
              <a:gdLst/>
              <a:ahLst/>
              <a:cxnLst/>
              <a:rect l="l" t="t" r="r" b="b"/>
              <a:pathLst>
                <a:path w="4930219" h="59432">
                  <a:moveTo>
                    <a:pt x="0" y="0"/>
                  </a:moveTo>
                  <a:lnTo>
                    <a:pt x="4930219" y="0"/>
                  </a:lnTo>
                  <a:lnTo>
                    <a:pt x="4930219" y="59432"/>
                  </a:lnTo>
                  <a:lnTo>
                    <a:pt x="0" y="59432"/>
                  </a:lnTo>
                  <a:close/>
                </a:path>
              </a:pathLst>
            </a:custGeom>
            <a:solidFill>
              <a:srgbClr val="1B1B2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930219" cy="107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501</Words>
  <Application>Microsoft Macintosh PowerPoint</Application>
  <PresentationFormat>Custom</PresentationFormat>
  <Paragraphs>112</Paragraphs>
  <Slides>10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6" baseType="lpstr">
      <vt:lpstr>Canva Sans</vt:lpstr>
      <vt:lpstr>Arial</vt:lpstr>
      <vt:lpstr>Poppins Bold</vt:lpstr>
      <vt:lpstr>Inter Bold</vt:lpstr>
      <vt:lpstr>Trebuchet MS Bold</vt:lpstr>
      <vt:lpstr>Inter</vt:lpstr>
      <vt:lpstr>Arimo</vt:lpstr>
      <vt:lpstr>Georgia Bold</vt:lpstr>
      <vt:lpstr>Calibri (MS) Bold</vt:lpstr>
      <vt:lpstr>Calibri</vt:lpstr>
      <vt:lpstr>Corben</vt:lpstr>
      <vt:lpstr>Trebuchet MS</vt:lpstr>
      <vt:lpstr>Canva Sans Bold</vt:lpstr>
      <vt:lpstr>Arimo Bold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AI-Powered-Hospital-Command-Center (1).pptx</dc:title>
  <cp:lastModifiedBy>Microsoft Office User</cp:lastModifiedBy>
  <cp:revision>4</cp:revision>
  <dcterms:created xsi:type="dcterms:W3CDTF">2006-08-16T00:00:00Z</dcterms:created>
  <dcterms:modified xsi:type="dcterms:W3CDTF">2026-05-08T06:05:08Z</dcterms:modified>
  <dc:identifier>DAHI9GxAdtc</dc:identifier>
</cp:coreProperties>
</file>